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424" r:id="rId3"/>
    <p:sldId id="569" r:id="rId4"/>
    <p:sldId id="570" r:id="rId5"/>
    <p:sldId id="571" r:id="rId6"/>
    <p:sldId id="568" r:id="rId7"/>
    <p:sldId id="389" r:id="rId8"/>
    <p:sldId id="268" r:id="rId9"/>
    <p:sldId id="300" r:id="rId10"/>
    <p:sldId id="275" r:id="rId11"/>
    <p:sldId id="416" r:id="rId12"/>
    <p:sldId id="332" r:id="rId13"/>
    <p:sldId id="418" r:id="rId14"/>
    <p:sldId id="419" r:id="rId15"/>
    <p:sldId id="420" r:id="rId16"/>
    <p:sldId id="421" r:id="rId17"/>
    <p:sldId id="423" r:id="rId18"/>
    <p:sldId id="257" r:id="rId19"/>
    <p:sldId id="258" r:id="rId20"/>
    <p:sldId id="260" r:id="rId21"/>
    <p:sldId id="425" r:id="rId22"/>
    <p:sldId id="426" r:id="rId23"/>
    <p:sldId id="378" r:id="rId24"/>
    <p:sldId id="379" r:id="rId25"/>
    <p:sldId id="271" r:id="rId26"/>
    <p:sldId id="428" r:id="rId27"/>
    <p:sldId id="385" r:id="rId28"/>
    <p:sldId id="429" r:id="rId29"/>
    <p:sldId id="478" r:id="rId30"/>
    <p:sldId id="479" r:id="rId31"/>
    <p:sldId id="572" r:id="rId32"/>
    <p:sldId id="573" r:id="rId33"/>
    <p:sldId id="427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8CAB5B-7218-4B01-A2F3-8FE185889306}" type="datetimeFigureOut">
              <a:rPr lang="en-US" smtClean="0"/>
              <a:t>2/27/2021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29929-1B41-4ADD-8CA6-72282A72BF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935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如果字符串内部有很多换行，用\n写在一行里不好阅读，为了简化，Python允许用'''...'''的格式表示多行内容，可以自己试试：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&gt;&gt;&gt; print'''line1</a:t>
            </a:r>
            <a:endParaRPr lang="zh-CN" altLang="en-US"/>
          </a:p>
          <a:p>
            <a:r>
              <a:rPr lang="zh-CN" altLang="en-US">
                <a:sym typeface="+mn-ea"/>
              </a:rPr>
              <a:t>... line2</a:t>
            </a:r>
            <a:endParaRPr lang="zh-CN" altLang="en-US"/>
          </a:p>
          <a:p>
            <a:r>
              <a:rPr lang="zh-CN" altLang="en-US">
                <a:sym typeface="+mn-ea"/>
              </a:rPr>
              <a:t>... line3'''</a:t>
            </a:r>
            <a:endParaRPr lang="zh-CN" altLang="en-US"/>
          </a:p>
          <a:p>
            <a:r>
              <a:rPr lang="zh-CN" altLang="en-US">
                <a:sym typeface="+mn-ea"/>
              </a:rPr>
              <a:t>line1</a:t>
            </a:r>
            <a:endParaRPr lang="zh-CN" altLang="en-US"/>
          </a:p>
          <a:p>
            <a:r>
              <a:rPr lang="zh-CN" altLang="en-US">
                <a:sym typeface="+mn-ea"/>
              </a:rPr>
              <a:t>line2</a:t>
            </a:r>
            <a:endParaRPr lang="zh-CN" altLang="en-US"/>
          </a:p>
          <a:p>
            <a:r>
              <a:rPr lang="zh-CN" altLang="en-US">
                <a:sym typeface="+mn-ea"/>
              </a:rPr>
              <a:t>line3</a:t>
            </a:r>
            <a:endParaRPr lang="zh-CN" altLang="en-US"/>
          </a:p>
          <a:p>
            <a:r>
              <a:rPr lang="zh-CN" altLang="en-US">
                <a:sym typeface="+mn-ea"/>
              </a:rPr>
              <a:t>python中的格式化字符</a:t>
            </a:r>
          </a:p>
          <a:p>
            <a:r>
              <a:rPr lang="zh-CN" altLang="en-US">
                <a:sym typeface="+mn-ea"/>
              </a:rPr>
              <a:t>在python中我们会遇到一个问题，问题是如何输出格式化的字符串。我们经常会输出类似'亲爱的xxx你好！你xx月的话费是xx，余额是xx'之类的字符串，而xxx的内容都是根据变量变化的，所以，需要一种简便的格式化字符串的方式。 </a:t>
            </a:r>
            <a:endParaRPr lang="zh-CN" altLang="en-US"/>
          </a:p>
          <a:p>
            <a:r>
              <a:rPr lang="zh-CN" altLang="en-US">
                <a:sym typeface="+mn-ea"/>
              </a:rPr>
              <a:t>在python中，我们用%实现格式化字符串。</a:t>
            </a:r>
            <a:endParaRPr lang="zh-CN" altLang="en-US"/>
          </a:p>
          <a:p>
            <a:r>
              <a:rPr lang="zh-CN" altLang="en-US">
                <a:sym typeface="+mn-ea"/>
              </a:rPr>
              <a:t>在字符串内部，%s表示用字符串替换，%d表示用整数替换，有几个%占位符，后面就跟几个变量或者值，顺序要对应好。如果只有一个%，括号可以省略。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FFAAD-D4DC-40BC-AFE0-6B1530E96E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B6B9BF-7E9D-41AF-AF4C-F79820D287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D175F5-8113-4A12-B5EB-069C09C37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E4F4A-3EB2-48E0-A505-28BC60E48DCF}" type="datetimeFigureOut">
              <a:rPr lang="en-US" smtClean="0"/>
              <a:t>2/27/2021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78DE7-18CB-4BAD-B2DF-694CDCB97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5185E-060E-492D-A196-627C6250C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A6A6-739C-48B7-90AC-0E006E08C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363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CA482-5D2D-4D9D-8FC0-D776CBA22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B2E6A-6632-400E-8DA1-D57391D9C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7A2FB-F7A7-46B1-A7BA-BD331B6CA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E4F4A-3EB2-48E0-A505-28BC60E48DCF}" type="datetimeFigureOut">
              <a:rPr lang="en-US" smtClean="0"/>
              <a:t>2/27/2021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8FBA3-46D7-431B-8211-B1EFF0236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3833B-2396-48B3-BB2B-ACE7FC858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A6A6-739C-48B7-90AC-0E006E08C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661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E99E2-4ACB-4F48-86E7-0C82B3AB9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E6509F-D17D-4F1D-8790-4D2298E7B5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0C4E80-8226-4E7D-ACBA-E6ECD06AF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E4F4A-3EB2-48E0-A505-28BC60E48DCF}" type="datetimeFigureOut">
              <a:rPr lang="en-US" smtClean="0"/>
              <a:t>2/27/2021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738E8-6480-4B4F-997F-A6AB8E8DF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45386-2B10-4D2C-A2DF-2CFC488FD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A6A6-739C-48B7-90AC-0E006E08C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542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8D2E2-2440-430F-A506-9217F854E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D5ED1-A3EC-4291-8D23-A3BC089A66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BE465-B459-4D93-9F08-C65B5283B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9D15F0-C5A1-4A84-BA99-B5453D573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E4F4A-3EB2-48E0-A505-28BC60E48DCF}" type="datetimeFigureOut">
              <a:rPr lang="en-US" smtClean="0"/>
              <a:t>2/27/2021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63B669-1742-403E-884D-53A96104B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3AA8DA-6507-4AF6-884F-8BB1BDEED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A6A6-739C-48B7-90AC-0E006E08C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876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0A4CD-C421-417C-818D-72BE4B4CF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1B41A-EC7B-4C38-9118-C8C76EBB71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57F126-FD1C-45CD-B845-C3F7F9F58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8DFF11-0000-47C2-81D8-23840C8780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EC3CCA-A532-496F-85D1-EFDEC8BB85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91097F-9A7C-48A9-91E9-E01B82FFD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E4F4A-3EB2-48E0-A505-28BC60E48DCF}" type="datetimeFigureOut">
              <a:rPr lang="en-US" smtClean="0"/>
              <a:t>2/27/2021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79F6C9-3926-413C-AE69-C57DF73AC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EED919-189E-42F6-AB9A-1D4C06598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A6A6-739C-48B7-90AC-0E006E08C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36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8F445-5C50-4AA1-A436-44E9F0E1E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8C1E8-9020-45D9-A59C-076A1D42F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E4F4A-3EB2-48E0-A505-28BC60E48DCF}" type="datetimeFigureOut">
              <a:rPr lang="en-US" smtClean="0"/>
              <a:t>2/27/2021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A52796-9B20-4C71-BB6C-DF21A4683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4F0DD8-B1C0-4A58-BF38-D49BD6822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A6A6-739C-48B7-90AC-0E006E08C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883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593698-C883-4E7E-8CC2-0C609F57C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E4F4A-3EB2-48E0-A505-28BC60E48DCF}" type="datetimeFigureOut">
              <a:rPr lang="en-US" smtClean="0"/>
              <a:t>2/27/2021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797B75-A11F-44F8-970F-49E05848B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4061F-E48E-4BFC-925E-A72791976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A6A6-739C-48B7-90AC-0E006E08C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582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59AE5-5B75-4448-9725-0B29986BC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9C648-6EF6-47AF-B68F-D794A8A2A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9DC709-B1AD-407A-B3FA-81995B99A0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44A27D-7440-491A-94D1-487C46FE5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E4F4A-3EB2-48E0-A505-28BC60E48DCF}" type="datetimeFigureOut">
              <a:rPr lang="en-US" smtClean="0"/>
              <a:t>2/27/2021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56982-9EF3-4B72-ACAC-F48EA01CF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F99F6A-6203-46DA-BC92-DF753C797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A6A6-739C-48B7-90AC-0E006E08C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533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59376-9113-413D-8379-5A87CB2E1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9936E0-DB63-41EA-B06C-C9F2F42873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1DA0B4-37E0-418D-AC57-4C15133741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8BBC3B-3312-4BA2-9AAB-AC0A0E80C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E4F4A-3EB2-48E0-A505-28BC60E48DCF}" type="datetimeFigureOut">
              <a:rPr lang="en-US" smtClean="0"/>
              <a:t>2/27/2021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CAFDB-1941-483A-B750-B2071B29B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20256-31D9-4B87-A024-076D592AF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A6A6-739C-48B7-90AC-0E006E08C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169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31129-C025-4A2B-A305-2B3591670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548F58-0103-4B7F-B9EC-9E338FFA69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59BBF-A9C8-4B34-A68E-A22D2ACCF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E4F4A-3EB2-48E0-A505-28BC60E48DCF}" type="datetimeFigureOut">
              <a:rPr lang="en-US" smtClean="0"/>
              <a:t>2/27/2021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BB0C2-A500-4546-ADF3-9E32EABB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EEB58-491E-47F2-9888-14337BF09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A6A6-739C-48B7-90AC-0E006E08C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847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62FD2D-A274-454C-A5CF-065B1A20E0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FBA4BD-336E-40BF-B09D-D5868B649D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F441B-8CAF-45BD-998D-36847C6B7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E4F4A-3EB2-48E0-A505-28BC60E48DCF}" type="datetimeFigureOut">
              <a:rPr lang="en-US" smtClean="0"/>
              <a:t>2/27/2021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2934B-0DA5-4C67-986F-CD5EE4F11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61478-851B-4362-84E6-44EE3B4E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A6A6-739C-48B7-90AC-0E006E08C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689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BF2CD2-BDC8-4B7D-A288-9066CC277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06BD78-DDA2-4927-9A98-42F7B3411E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E2C07-1728-413C-9817-AB09F77094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6E4F4A-3EB2-48E0-A505-28BC60E48DCF}" type="datetimeFigureOut">
              <a:rPr lang="en-US" smtClean="0"/>
              <a:t>2/27/2021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71A39-3C38-4553-9EB3-3D5142ECC7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3DC6C-DCC2-4D12-9AE9-18863C417A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61A6A6-739C-48B7-90AC-0E006E08C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090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4.wmf"/><Relationship Id="rId7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0.png"/><Relationship Id="rId5" Type="http://schemas.openxmlformats.org/officeDocument/2006/relationships/image" Target="../media/image5.wmf"/><Relationship Id="rId10" Type="http://schemas.openxmlformats.org/officeDocument/2006/relationships/image" Target="../media/image9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7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6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9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7" Type="http://schemas.openxmlformats.org/officeDocument/2006/relationships/image" Target="../media/image15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1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image" Target="../media/image26.wmf"/><Relationship Id="rId18" Type="http://schemas.openxmlformats.org/officeDocument/2006/relationships/oleObject" Target="../embeddings/oleObject21.bin"/><Relationship Id="rId3" Type="http://schemas.openxmlformats.org/officeDocument/2006/relationships/image" Target="../media/image21.wmf"/><Relationship Id="rId21" Type="http://schemas.openxmlformats.org/officeDocument/2006/relationships/image" Target="../media/image30.wmf"/><Relationship Id="rId7" Type="http://schemas.openxmlformats.org/officeDocument/2006/relationships/image" Target="../media/image23.wmf"/><Relationship Id="rId12" Type="http://schemas.openxmlformats.org/officeDocument/2006/relationships/oleObject" Target="../embeddings/oleObject18.bin"/><Relationship Id="rId17" Type="http://schemas.openxmlformats.org/officeDocument/2006/relationships/image" Target="../media/image28.wmf"/><Relationship Id="rId2" Type="http://schemas.openxmlformats.org/officeDocument/2006/relationships/oleObject" Target="../embeddings/oleObject13.bin"/><Relationship Id="rId16" Type="http://schemas.openxmlformats.org/officeDocument/2006/relationships/oleObject" Target="../embeddings/oleObject20.bin"/><Relationship Id="rId20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25.wmf"/><Relationship Id="rId5" Type="http://schemas.openxmlformats.org/officeDocument/2006/relationships/image" Target="../media/image22.wmf"/><Relationship Id="rId15" Type="http://schemas.openxmlformats.org/officeDocument/2006/relationships/image" Target="../media/image27.wmf"/><Relationship Id="rId10" Type="http://schemas.openxmlformats.org/officeDocument/2006/relationships/oleObject" Target="../embeddings/oleObject17.bin"/><Relationship Id="rId19" Type="http://schemas.openxmlformats.org/officeDocument/2006/relationships/image" Target="../media/image29.wmf"/><Relationship Id="rId4" Type="http://schemas.openxmlformats.org/officeDocument/2006/relationships/oleObject" Target="../embeddings/oleObject14.bin"/><Relationship Id="rId9" Type="http://schemas.openxmlformats.org/officeDocument/2006/relationships/image" Target="../media/image24.wmf"/><Relationship Id="rId14" Type="http://schemas.openxmlformats.org/officeDocument/2006/relationships/oleObject" Target="../embeddings/oleObject19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69091-EF7A-4F28-91FB-77E6A971EA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</a:t>
            </a:r>
            <a:r>
              <a:rPr lang="en-US" altLang="zh-CN" dirty="0"/>
              <a:t>alman Filter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071710-F7CC-40C1-BB41-DBB4CBEB8D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526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6ADE4-272E-4456-8C27-1FA13F9FB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</a:t>
            </a:r>
            <a:r>
              <a:rPr lang="en-US" altLang="zh-CN" dirty="0"/>
              <a:t>alman Filter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D9559-0441-42D9-83A3-50654EC29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Filtering is weighting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（滤波即加权）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。滤波的作用就是给不同的信号分量不同的权重。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alman Filter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可以很好地从带有噪声的数据过程中估计状态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降噪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可以看成滤波的一种。降噪的目的在于突出信号本身而抑制噪声影响。从这个角度，降噪就是给信号一个高的权重而给噪声一个低的权重。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Kalman Filter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算法，是一种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递推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预测滤波算法，算法中涉及到滤波，也涉及到对下一时刻数据的预测。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Kalman Filter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由一系列递归数学公式描述。它提供了一种高效可计算的方法来估计过程的状态，并使估计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均方误差最小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。卡尔曼滤波器应用广泛且功能强大：它可以估计信号的过去和当前状态，甚至能估计将来的状态，即使并不知道模型的确切性质。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095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F5D53-9B72-433E-A482-5BF62C687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滤波的应用举例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148D81-9DEF-457D-B1B3-A10534BD16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527045"/>
            <a:ext cx="10237237" cy="5177069"/>
          </a:xfrm>
        </p:spPr>
      </p:pic>
    </p:spTree>
    <p:extLst>
      <p:ext uri="{BB962C8B-B14F-4D97-AF65-F5344CB8AC3E}">
        <p14:creationId xmlns:p14="http://schemas.microsoft.com/office/powerpoint/2010/main" val="3355227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6ADE4-272E-4456-8C27-1FA13F9FB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</a:t>
            </a:r>
            <a:r>
              <a:rPr lang="en-US" altLang="zh-CN" dirty="0"/>
              <a:t>alman Filter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DD9559-0441-42D9-83A3-50654EC29C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在已知时刻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和观测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，如何求得时刻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概率分布呢？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b="0" i="0" dirty="0">
                    <a:solidFill>
                      <a:srgbClr val="121212"/>
                    </a:solidFill>
                    <a:effectLst/>
                    <a:latin typeface="-apple-system"/>
                  </a:rPr>
                  <a:t>Kalman Filter</a:t>
                </a:r>
                <a:r>
                  <a:rPr lang="zh-CN" altLang="en-US" b="0" i="0" dirty="0">
                    <a:solidFill>
                      <a:srgbClr val="121212"/>
                    </a:solidFill>
                    <a:effectLst/>
                    <a:latin typeface="-apple-system"/>
                  </a:rPr>
                  <a:t>最终目的是得到一个</a:t>
                </a:r>
                <a:r>
                  <a:rPr lang="zh-CN" altLang="en-US" b="1" i="0" dirty="0">
                    <a:solidFill>
                      <a:srgbClr val="121212"/>
                    </a:solidFill>
                    <a:effectLst/>
                    <a:latin typeface="-apple-system"/>
                  </a:rPr>
                  <a:t>基于误差能够不断修正</a:t>
                </a:r>
                <a:r>
                  <a:rPr lang="zh-CN" altLang="en-US" b="0" i="0" dirty="0">
                    <a:solidFill>
                      <a:srgbClr val="121212"/>
                    </a:solidFill>
                    <a:effectLst/>
                    <a:latin typeface="-apple-system"/>
                  </a:rPr>
                  <a:t>的</a:t>
                </a:r>
                <a:r>
                  <a:rPr lang="zh-CN" altLang="en-US" b="1" i="0" dirty="0">
                    <a:solidFill>
                      <a:srgbClr val="121212"/>
                    </a:solidFill>
                    <a:effectLst/>
                    <a:latin typeface="-apple-system"/>
                  </a:rPr>
                  <a:t>迭代</a:t>
                </a:r>
                <a:r>
                  <a:rPr lang="zh-CN" altLang="en-US" b="0" i="0" dirty="0">
                    <a:solidFill>
                      <a:srgbClr val="121212"/>
                    </a:solidFill>
                    <a:effectLst/>
                    <a:latin typeface="-apple-system"/>
                  </a:rPr>
                  <a:t>估计表达式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DD9559-0441-42D9-83A3-50654EC29C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3991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9757E-6519-4EA0-86E2-FBEB8D494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517E5-2902-4A5C-A90A-4CEB4F6CA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3B2E75-3379-4C0E-B4C8-A25F5EA70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" y="290512"/>
            <a:ext cx="10506075" cy="627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486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6103B-CF98-40FF-AC81-92323289D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S</a:t>
            </a:r>
            <a:r>
              <a:rPr lang="en-US" altLang="zh-CN" dirty="0"/>
              <a:t>pace </a:t>
            </a:r>
            <a:r>
              <a:rPr lang="en-US" dirty="0"/>
              <a:t>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543207-C4CF-403B-AB5A-0AF8253272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变量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是系统的状态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 state )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，比如相机的位姿，而变量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是观测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 observation )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，比如相机所观测到的空间点的坐标。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543207-C4CF-403B-AB5A-0AF8253272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4AB46C1-D2D5-4CE9-8948-EE767C256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849115"/>
            <a:ext cx="7931203" cy="3327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009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/>
              <a:t>向量和矩阵</a:t>
            </a:r>
            <a:r>
              <a:rPr lang="zh-CN" altLang="zh-CN" sz="4000" dirty="0"/>
              <a:t>定义</a:t>
            </a:r>
            <a:endParaRPr lang="zh-CN" altLang="en-US" sz="40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EC9F487-ED10-4866-BE68-FC13FF490547}"/>
              </a:ext>
            </a:extLst>
          </p:cNvPr>
          <p:cNvGrpSpPr/>
          <p:nvPr/>
        </p:nvGrpSpPr>
        <p:grpSpPr>
          <a:xfrm>
            <a:off x="1216025" y="1370013"/>
            <a:ext cx="5153025" cy="1828800"/>
            <a:chOff x="3216275" y="1916113"/>
            <a:chExt cx="5153025" cy="1828800"/>
          </a:xfrm>
        </p:grpSpPr>
        <p:graphicFrame>
          <p:nvGraphicFramePr>
            <p:cNvPr id="6148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28567113"/>
                </p:ext>
              </p:extLst>
            </p:nvPr>
          </p:nvGraphicFramePr>
          <p:xfrm>
            <a:off x="5232400" y="1916113"/>
            <a:ext cx="3136900" cy="1828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136900" imgH="1828800" progId="Equation.DSMT4">
                    <p:embed/>
                  </p:oleObj>
                </mc:Choice>
                <mc:Fallback>
                  <p:oleObj name="Equation" r:id="rId2" imgW="3136900" imgH="1828800" progId="Equation.DSMT4">
                    <p:embed/>
                    <p:pic>
                      <p:nvPicPr>
                        <p:cNvPr id="6148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2400" y="1916113"/>
                          <a:ext cx="3136900" cy="1828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/>
            <p:nvPr/>
          </p:nvSpPr>
          <p:spPr>
            <a:xfrm>
              <a:off x="3216275" y="2565401"/>
              <a:ext cx="1722438" cy="4619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i="1" dirty="0" err="1">
                  <a:solidFill>
                    <a:schemeClr val="accent6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p</a:t>
              </a:r>
              <a:r>
                <a:rPr lang="en-US" altLang="zh-CN" sz="2400" dirty="0" err="1">
                  <a:solidFill>
                    <a:schemeClr val="accent6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×</a:t>
              </a:r>
              <a:r>
                <a:rPr lang="en-US" altLang="zh-CN" sz="2400" i="1" dirty="0" err="1">
                  <a:solidFill>
                    <a:schemeClr val="accent6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q</a:t>
              </a:r>
              <a:r>
                <a:rPr lang="zh-CN" altLang="zh-CN" sz="2400" dirty="0">
                  <a:solidFill>
                    <a:schemeClr val="accent6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矩阵</a:t>
              </a:r>
              <a:r>
                <a:rPr lang="zh-CN" altLang="en-US" sz="2400" dirty="0">
                  <a:solidFill>
                    <a:schemeClr val="accent6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：</a:t>
              </a:r>
            </a:p>
          </p:txBody>
        </p:sp>
      </p:grpSp>
      <p:sp>
        <p:nvSpPr>
          <p:cNvPr id="6150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DE99838-1119-42DF-9C9A-42B9B2F275F6}"/>
              </a:ext>
            </a:extLst>
          </p:cNvPr>
          <p:cNvGrpSpPr/>
          <p:nvPr/>
        </p:nvGrpSpPr>
        <p:grpSpPr>
          <a:xfrm>
            <a:off x="1216025" y="3270251"/>
            <a:ext cx="7842250" cy="1828800"/>
            <a:chOff x="2208214" y="3789363"/>
            <a:chExt cx="7842250" cy="1828800"/>
          </a:xfrm>
        </p:grpSpPr>
        <p:graphicFrame>
          <p:nvGraphicFramePr>
            <p:cNvPr id="6151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86807128"/>
                </p:ext>
              </p:extLst>
            </p:nvPr>
          </p:nvGraphicFramePr>
          <p:xfrm>
            <a:off x="4008438" y="3789363"/>
            <a:ext cx="1104900" cy="1828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104900" imgH="1828800" progId="Equation.DSMT4">
                    <p:embed/>
                  </p:oleObj>
                </mc:Choice>
                <mc:Fallback>
                  <p:oleObj name="Equation" r:id="rId4" imgW="1104900" imgH="1828800" progId="Equation.DSMT4">
                    <p:embed/>
                    <p:pic>
                      <p:nvPicPr>
                        <p:cNvPr id="6151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8438" y="3789363"/>
                          <a:ext cx="1104900" cy="1828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矩形 7"/>
            <p:cNvSpPr/>
            <p:nvPr/>
          </p:nvSpPr>
          <p:spPr>
            <a:xfrm>
              <a:off x="2208214" y="4437063"/>
              <a:ext cx="1876425" cy="4619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i="1" dirty="0">
                  <a:solidFill>
                    <a:schemeClr val="accent6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p</a:t>
              </a:r>
              <a:r>
                <a:rPr lang="zh-CN" altLang="zh-CN" sz="2400" dirty="0">
                  <a:solidFill>
                    <a:schemeClr val="accent6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维列向量</a:t>
              </a:r>
              <a:r>
                <a:rPr lang="zh-CN" altLang="en-US" sz="2400" dirty="0">
                  <a:solidFill>
                    <a:schemeClr val="accent6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：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6167439" y="4365626"/>
              <a:ext cx="3883025" cy="4603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i="1" dirty="0">
                  <a:solidFill>
                    <a:schemeClr val="accent6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q</a:t>
              </a:r>
              <a:r>
                <a:rPr lang="zh-CN" altLang="zh-CN" sz="2400" dirty="0">
                  <a:solidFill>
                    <a:schemeClr val="accent6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维行向量：</a:t>
              </a:r>
              <a:r>
                <a:rPr lang="en-US" altLang="zh-CN" sz="2400" dirty="0">
                  <a:solidFill>
                    <a:schemeClr val="accent6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 </a:t>
              </a:r>
              <a:r>
                <a:rPr lang="en-US" altLang="zh-CN" sz="2400" b="1" i="1" dirty="0">
                  <a:solidFill>
                    <a:srgbClr val="000000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a</a:t>
              </a:r>
              <a:r>
                <a:rPr lang="en-US" altLang="zh-CN" sz="2400" dirty="0">
                  <a:solidFill>
                    <a:srgbClr val="000000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′=(</a:t>
              </a:r>
              <a:r>
                <a:rPr lang="en-US" altLang="zh-CN" sz="2400" i="1" dirty="0">
                  <a:solidFill>
                    <a:srgbClr val="000000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a</a:t>
              </a:r>
              <a:r>
                <a:rPr lang="en-US" altLang="zh-CN" sz="2400" baseline="-25000" dirty="0">
                  <a:solidFill>
                    <a:srgbClr val="000000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1</a:t>
              </a:r>
              <a:r>
                <a:rPr lang="en-US" altLang="zh-CN" sz="2400" dirty="0">
                  <a:solidFill>
                    <a:srgbClr val="000000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,</a:t>
              </a:r>
              <a:r>
                <a:rPr lang="en-US" altLang="zh-CN" sz="2400" i="1" dirty="0">
                  <a:solidFill>
                    <a:srgbClr val="000000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a</a:t>
              </a:r>
              <a:r>
                <a:rPr lang="en-US" altLang="zh-CN" sz="2400" baseline="-25000" dirty="0">
                  <a:solidFill>
                    <a:srgbClr val="000000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2</a:t>
              </a:r>
              <a:r>
                <a:rPr lang="en-US" altLang="zh-CN" sz="2400" dirty="0">
                  <a:solidFill>
                    <a:srgbClr val="000000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,⋯,</a:t>
              </a:r>
              <a:r>
                <a:rPr lang="en-US" altLang="zh-CN" sz="2400" i="1" dirty="0">
                  <a:solidFill>
                    <a:srgbClr val="000000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a</a:t>
              </a:r>
              <a:r>
                <a:rPr lang="en-US" altLang="zh-CN" sz="2400" i="1" baseline="-25000" dirty="0">
                  <a:solidFill>
                    <a:srgbClr val="000000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q</a:t>
              </a:r>
              <a:r>
                <a:rPr lang="en-US" altLang="zh-CN" sz="2400" dirty="0">
                  <a:solidFill>
                    <a:srgbClr val="000000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)</a:t>
              </a:r>
              <a:endParaRPr lang="zh-CN" altLang="en-US" sz="2400" dirty="0">
                <a:solidFill>
                  <a:srgbClr val="000000"/>
                </a:solidFill>
                <a:latin typeface="Times New Roman" pitchFamily="18" charset="0"/>
                <a:ea typeface="宋体" charset="-122"/>
                <a:cs typeface="Times New Roman" pitchFamily="18" charset="0"/>
              </a:endParaRPr>
            </a:p>
          </p:txBody>
        </p:sp>
      </p:grpSp>
      <p:sp>
        <p:nvSpPr>
          <p:cNvPr id="6155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334AEA7-6FF5-46EC-AC8D-4D6C8D185FCA}"/>
              </a:ext>
            </a:extLst>
          </p:cNvPr>
          <p:cNvGrpSpPr/>
          <p:nvPr/>
        </p:nvGrpSpPr>
        <p:grpSpPr>
          <a:xfrm>
            <a:off x="1216025" y="4971638"/>
            <a:ext cx="8407399" cy="539750"/>
            <a:chOff x="1847851" y="5589588"/>
            <a:chExt cx="8407399" cy="539750"/>
          </a:xfrm>
        </p:grpSpPr>
        <p:sp>
          <p:nvSpPr>
            <p:cNvPr id="10" name="矩形 9"/>
            <p:cNvSpPr/>
            <p:nvPr/>
          </p:nvSpPr>
          <p:spPr>
            <a:xfrm>
              <a:off x="1847851" y="5661026"/>
              <a:ext cx="2201863" cy="4619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zh-CN" sz="2400" dirty="0">
                  <a:solidFill>
                    <a:schemeClr val="accent6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向量</a:t>
              </a:r>
              <a:r>
                <a:rPr lang="en-US" altLang="zh-CN" sz="2400" b="1" i="1" dirty="0">
                  <a:solidFill>
                    <a:schemeClr val="accent6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a</a:t>
              </a:r>
              <a:r>
                <a:rPr lang="zh-CN" altLang="zh-CN" sz="2400" dirty="0">
                  <a:solidFill>
                    <a:schemeClr val="accent6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的长度：</a:t>
              </a:r>
              <a:endParaRPr lang="zh-CN" altLang="en-US" sz="2400" dirty="0">
                <a:solidFill>
                  <a:schemeClr val="accent6"/>
                </a:solidFill>
                <a:latin typeface="Times New Roman" pitchFamily="18" charset="0"/>
                <a:ea typeface="宋体" charset="-122"/>
                <a:cs typeface="Times New Roman" pitchFamily="18" charset="0"/>
              </a:endParaRPr>
            </a:p>
          </p:txBody>
        </p:sp>
        <p:graphicFrame>
          <p:nvGraphicFramePr>
            <p:cNvPr id="6156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75080092"/>
                </p:ext>
              </p:extLst>
            </p:nvPr>
          </p:nvGraphicFramePr>
          <p:xfrm>
            <a:off x="3792538" y="5589588"/>
            <a:ext cx="3778250" cy="539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797300" imgH="546100" progId="Equation.DSMT4">
                    <p:embed/>
                  </p:oleObj>
                </mc:Choice>
                <mc:Fallback>
                  <p:oleObj name="Equation" r:id="rId6" imgW="3797300" imgH="546100" progId="Equation.DSMT4">
                    <p:embed/>
                    <p:pic>
                      <p:nvPicPr>
                        <p:cNvPr id="6156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538" y="5589588"/>
                          <a:ext cx="3778250" cy="5397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矩形 12"/>
            <p:cNvSpPr/>
            <p:nvPr/>
          </p:nvSpPr>
          <p:spPr>
            <a:xfrm>
              <a:off x="7896226" y="5661026"/>
              <a:ext cx="1724025" cy="4619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zh-CN" sz="2400" dirty="0">
                  <a:solidFill>
                    <a:schemeClr val="accent6"/>
                  </a:solidFill>
                  <a:latin typeface="Arial" charset="0"/>
                  <a:ea typeface="宋体" charset="-122"/>
                </a:rPr>
                <a:t>单位向量：</a:t>
              </a:r>
              <a:endParaRPr lang="zh-CN" altLang="en-US" sz="2400" dirty="0">
                <a:solidFill>
                  <a:schemeClr val="accent6"/>
                </a:solidFill>
                <a:latin typeface="Arial" charset="0"/>
                <a:ea typeface="宋体" charset="-122"/>
              </a:endParaRPr>
            </a:p>
          </p:txBody>
        </p:sp>
        <p:graphicFrame>
          <p:nvGraphicFramePr>
            <p:cNvPr id="6158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484273"/>
                </p:ext>
              </p:extLst>
            </p:nvPr>
          </p:nvGraphicFramePr>
          <p:xfrm>
            <a:off x="9480550" y="5661025"/>
            <a:ext cx="7747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774364" imgH="431613" progId="Equation.DSMT4">
                    <p:embed/>
                  </p:oleObj>
                </mc:Choice>
                <mc:Fallback>
                  <p:oleObj name="Equation" r:id="rId8" imgW="774364" imgH="431613" progId="Equation.DSMT4">
                    <p:embed/>
                    <p:pic>
                      <p:nvPicPr>
                        <p:cNvPr id="6158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80550" y="5661025"/>
                          <a:ext cx="774700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15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4E28B60-757A-4AC5-923D-072D6AD2023C}" type="slidenum">
              <a:rPr lang="en-US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zh-CN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95274FE-AF2D-46E4-8C46-5C9560548007}"/>
                  </a:ext>
                </a:extLst>
              </p:cNvPr>
              <p:cNvSpPr txBox="1"/>
              <p:nvPr/>
            </p:nvSpPr>
            <p:spPr>
              <a:xfrm>
                <a:off x="1216024" y="5619009"/>
                <a:ext cx="650097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95274FE-AF2D-46E4-8C46-5C95605480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6024" y="5619009"/>
                <a:ext cx="650097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378C0D5-7DC0-4ABE-9006-B86988D21660}"/>
                  </a:ext>
                </a:extLst>
              </p:cNvPr>
              <p:cNvSpPr txBox="1"/>
              <p:nvPr/>
            </p:nvSpPr>
            <p:spPr>
              <a:xfrm>
                <a:off x="1239467" y="6072059"/>
                <a:ext cx="56906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sz="28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378C0D5-7DC0-4ABE-9006-B86988D216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9467" y="6072059"/>
                <a:ext cx="569067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 dirty="0"/>
              <a:t>方差</a:t>
            </a:r>
            <a:r>
              <a:rPr lang="en-US" altLang="zh-CN" sz="4000" dirty="0"/>
              <a:t>-</a:t>
            </a:r>
            <a:r>
              <a:rPr lang="zh-CN" altLang="en-US" sz="4000" dirty="0"/>
              <a:t>协方差矩阵</a:t>
            </a:r>
            <a:r>
              <a:rPr lang="en-US" altLang="zh-CN" sz="4000" dirty="0"/>
              <a:t>variance-covariance matrix</a:t>
            </a:r>
            <a:endParaRPr lang="zh-CN" altLang="en-US" sz="4000" dirty="0"/>
          </a:p>
        </p:txBody>
      </p:sp>
      <p:sp>
        <p:nvSpPr>
          <p:cNvPr id="7174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协方差</a:t>
            </a:r>
            <a:r>
              <a:rPr lang="zh-CN" altLang="en-US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定义为</a:t>
            </a:r>
            <a:endParaRPr lang="zh-CN" altLang="en-US" dirty="0">
              <a:solidFill>
                <a:schemeClr val="accent6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zh-CN" altLang="en-US" dirty="0">
              <a:solidFill>
                <a:srgbClr val="000808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zh-CN" altLang="en-US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若</a:t>
            </a:r>
            <a:r>
              <a:rPr lang="en-US" altLang="zh-CN" dirty="0" err="1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Cov</a:t>
            </a:r>
            <a:r>
              <a:rPr lang="en-US" altLang="zh-CN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i="1" dirty="0" err="1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dirty="0" err="1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altLang="zh-CN" i="1" dirty="0" err="1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CN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)=0</a:t>
            </a:r>
            <a:r>
              <a:rPr lang="zh-CN" altLang="en-US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，则称</a:t>
            </a:r>
            <a:r>
              <a:rPr lang="en-US" altLang="zh-CN" i="1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zh-CN" altLang="en-US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和</a:t>
            </a:r>
            <a:r>
              <a:rPr lang="en-US" altLang="zh-CN" i="1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zh-CN" altLang="en-US" dirty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不相关</a:t>
            </a:r>
            <a:r>
              <a:rPr lang="zh-CN" altLang="en-US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。</a:t>
            </a:r>
          </a:p>
          <a:p>
            <a:pPr eaLnBrk="1" hangingPunct="1">
              <a:defRPr/>
            </a:pPr>
            <a:r>
              <a:rPr lang="zh-CN" altLang="en-US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两个独立的随机变量必然不相关，但两个不相关的随机变量未必独立。</a:t>
            </a:r>
          </a:p>
          <a:p>
            <a:pPr eaLnBrk="1" hangingPunct="1">
              <a:defRPr/>
            </a:pPr>
            <a:r>
              <a:rPr lang="zh-CN" altLang="en-US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当</a:t>
            </a:r>
            <a:r>
              <a:rPr lang="en-US" altLang="zh-CN" i="1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zh-CN" i="1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zh-CN" altLang="en-US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时，协方差即为</a:t>
            </a:r>
            <a:r>
              <a:rPr lang="zh-CN" altLang="en-US" dirty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方差</a:t>
            </a:r>
            <a:r>
              <a:rPr lang="zh-CN" altLang="en-US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，也就是</a:t>
            </a:r>
            <a:endParaRPr lang="en-US" altLang="zh-CN" dirty="0">
              <a:solidFill>
                <a:srgbClr val="000808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defRPr/>
            </a:pPr>
            <a:endParaRPr lang="en-US" altLang="zh-CN" dirty="0">
              <a:solidFill>
                <a:srgbClr val="000808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364" name="Rectangle 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rgbClr val="000808"/>
              </a:solidFill>
            </a:endParaRPr>
          </a:p>
        </p:txBody>
      </p:sp>
      <p:sp>
        <p:nvSpPr>
          <p:cNvPr id="15365" name="Rectangle 1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rgbClr val="000808"/>
              </a:solidFill>
            </a:endParaRPr>
          </a:p>
        </p:txBody>
      </p:sp>
      <p:sp>
        <p:nvSpPr>
          <p:cNvPr id="15366" name="Rectangle 14"/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rgbClr val="000808"/>
              </a:solidFill>
            </a:endParaRPr>
          </a:p>
        </p:txBody>
      </p:sp>
      <p:graphicFrame>
        <p:nvGraphicFramePr>
          <p:cNvPr id="1536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4348487"/>
              </p:ext>
            </p:extLst>
          </p:nvPr>
        </p:nvGraphicFramePr>
        <p:xfrm>
          <a:off x="3618787" y="2178342"/>
          <a:ext cx="53086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308600" imgH="558800" progId="Equation.DSMT4">
                  <p:embed/>
                </p:oleObj>
              </mc:Choice>
              <mc:Fallback>
                <p:oleObj name="Equation" r:id="rId2" imgW="5308600" imgH="558800" progId="Equation.DSMT4">
                  <p:embed/>
                  <p:pic>
                    <p:nvPicPr>
                      <p:cNvPr id="1536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8787" y="2178342"/>
                        <a:ext cx="53086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2743717"/>
              </p:ext>
            </p:extLst>
          </p:nvPr>
        </p:nvGraphicFramePr>
        <p:xfrm>
          <a:off x="4722748" y="4808538"/>
          <a:ext cx="2514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14600" imgH="482600" progId="Equation.DSMT4">
                  <p:embed/>
                </p:oleObj>
              </mc:Choice>
              <mc:Fallback>
                <p:oleObj name="Equation" r:id="rId4" imgW="2514600" imgH="482600" progId="Equation.DSMT4">
                  <p:embed/>
                  <p:pic>
                    <p:nvPicPr>
                      <p:cNvPr id="1536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2748" y="4808538"/>
                        <a:ext cx="25146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0" name="灯片编号占位符 9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3181B5B-C398-4266-A915-54E422C81BFF}" type="slidenum">
              <a:rPr lang="en-US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zh-CN"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1524001" y="82022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rgbClr val="000808"/>
              </a:solidFill>
            </a:endParaRPr>
          </a:p>
        </p:txBody>
      </p:sp>
      <p:graphicFrame>
        <p:nvGraphicFramePr>
          <p:cNvPr id="16389" name="Object 7"/>
          <p:cNvGraphicFramePr>
            <a:graphicFrameLocks noChangeAspect="1"/>
          </p:cNvGraphicFramePr>
          <p:nvPr/>
        </p:nvGraphicFramePr>
        <p:xfrm>
          <a:off x="1992313" y="836613"/>
          <a:ext cx="8166100" cy="530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166100" imgH="5308600" progId="Equation.DSMT4">
                  <p:embed/>
                </p:oleObj>
              </mc:Choice>
              <mc:Fallback>
                <p:oleObj name="Equation" r:id="rId2" imgW="8166100" imgH="5308600" progId="Equation.DSMT4">
                  <p:embed/>
                  <p:pic>
                    <p:nvPicPr>
                      <p:cNvPr id="1638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836613"/>
                        <a:ext cx="8166100" cy="530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C5A68F4-F86A-4F43-AAEE-6C4E5588ECB1}" type="slidenum">
              <a:rPr lang="en-US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zh-CN"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825625" y="703263"/>
            <a:ext cx="8540750" cy="5395912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zh-CN" altLang="en-US" sz="2400" dirty="0">
              <a:solidFill>
                <a:srgbClr val="000808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400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若</a:t>
            </a:r>
            <a:r>
              <a:rPr lang="en-US" altLang="zh-CN" sz="2400" dirty="0" err="1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Cov</a:t>
            </a:r>
            <a:r>
              <a:rPr lang="en-US" altLang="zh-CN" sz="2400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400" b="1" i="1" dirty="0" err="1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400" dirty="0" err="1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altLang="zh-CN" sz="2400" b="1" i="1" dirty="0" err="1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CN" sz="2400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)=</a:t>
            </a:r>
            <a:r>
              <a:rPr lang="en-US" altLang="zh-CN" sz="2400" b="1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zh-CN" altLang="en-US" sz="2400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，则称</a:t>
            </a:r>
            <a:r>
              <a:rPr lang="en-US" altLang="zh-CN" sz="2400" b="1" i="1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zh-CN" altLang="en-US" sz="2400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和</a:t>
            </a:r>
            <a:r>
              <a:rPr lang="en-US" altLang="zh-CN" sz="2400" b="1" i="1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zh-CN" altLang="en-US" sz="2400" dirty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不相关</a:t>
            </a:r>
            <a:r>
              <a:rPr lang="zh-CN" altLang="en-US" sz="2400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。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400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两个独立的随机向量必然不相关，但两个不相关的随机向量未必独立。</a:t>
            </a:r>
            <a:endParaRPr lang="en-US" altLang="zh-CN" sz="2400" dirty="0">
              <a:solidFill>
                <a:srgbClr val="000808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sz="2400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zh-CN" altLang="en-US" sz="2400" dirty="0">
              <a:solidFill>
                <a:srgbClr val="000808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altLang="zh-CN" sz="2400" dirty="0">
              <a:solidFill>
                <a:srgbClr val="000808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altLang="zh-CN" sz="2400" dirty="0">
              <a:solidFill>
                <a:srgbClr val="000808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altLang="zh-CN" sz="2400" dirty="0">
              <a:solidFill>
                <a:srgbClr val="000808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altLang="zh-CN" sz="2400" dirty="0">
              <a:solidFill>
                <a:srgbClr val="000808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altLang="zh-CN" sz="2400" dirty="0">
              <a:solidFill>
                <a:srgbClr val="000808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altLang="zh-CN" sz="2400" dirty="0">
              <a:solidFill>
                <a:srgbClr val="000808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sz="2400" i="1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zh-CN" sz="2400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400" b="1" i="1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400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altLang="en-US" sz="2400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亦记作</a:t>
            </a:r>
            <a:r>
              <a:rPr lang="en-US" altLang="zh-CN" sz="2400" b="1" i="1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Σ</a:t>
            </a:r>
            <a:r>
              <a:rPr lang="en-US" altLang="zh-CN" sz="2400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=(</a:t>
            </a:r>
            <a:r>
              <a:rPr lang="en-US" altLang="zh-CN" sz="2400" i="1" dirty="0" err="1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σ</a:t>
            </a:r>
            <a:r>
              <a:rPr lang="en-US" altLang="zh-CN" sz="2400" i="1" baseline="-25000" dirty="0" err="1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ij</a:t>
            </a:r>
            <a:r>
              <a:rPr lang="en-US" altLang="zh-CN" sz="2400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altLang="en-US" sz="2400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，其中</a:t>
            </a:r>
            <a:r>
              <a:rPr lang="en-US" altLang="zh-CN" sz="2400" i="1" dirty="0" err="1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σ</a:t>
            </a:r>
            <a:r>
              <a:rPr lang="en-US" altLang="zh-CN" sz="2400" i="1" baseline="-25000" dirty="0" err="1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ij</a:t>
            </a:r>
            <a:r>
              <a:rPr lang="en-US" altLang="zh-CN" sz="2400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zh-CN" sz="2400" dirty="0" err="1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Cov</a:t>
            </a:r>
            <a:r>
              <a:rPr lang="en-US" altLang="zh-CN" sz="2400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400" i="1" dirty="0" err="1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400" i="1" baseline="-25000" dirty="0" err="1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400" dirty="0" err="1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altLang="zh-CN" sz="2400" i="1" dirty="0" err="1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400" i="1" baseline="-25000" dirty="0" err="1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CN" sz="2400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altLang="en-US" sz="2400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sz="2400" i="1" dirty="0" err="1">
                <a:solidFill>
                  <a:srgbClr val="0004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altLang="zh-CN" sz="2400" i="1" baseline="-25000" dirty="0" err="1">
                <a:solidFill>
                  <a:srgbClr val="0004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r>
              <a:rPr lang="en-US" altLang="zh-CN" sz="2400" dirty="0">
                <a:solidFill>
                  <a:srgbClr val="0004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i="1" dirty="0">
                <a:solidFill>
                  <a:srgbClr val="0004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altLang="zh-CN" sz="2400" i="1" baseline="-25000" dirty="0">
                <a:solidFill>
                  <a:srgbClr val="0004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aseline="30000" dirty="0">
                <a:solidFill>
                  <a:srgbClr val="0004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solidFill>
                  <a:srgbClr val="0004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i="1" dirty="0">
                <a:solidFill>
                  <a:srgbClr val="0004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dirty="0">
                <a:solidFill>
                  <a:srgbClr val="0004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solidFill>
                  <a:srgbClr val="0004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i="1" baseline="-25000" dirty="0">
                <a:solidFill>
                  <a:srgbClr val="0004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solidFill>
                  <a:srgbClr val="0004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400" dirty="0">
                <a:solidFill>
                  <a:srgbClr val="0004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dirty="0">
              <a:solidFill>
                <a:srgbClr val="00040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zh-CN" sz="2400" dirty="0">
                <a:solidFill>
                  <a:srgbClr val="0004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在给定</a:t>
            </a:r>
            <a:r>
              <a:rPr lang="en-US" altLang="zh-CN" sz="2400" b="1" i="1" dirty="0">
                <a:solidFill>
                  <a:srgbClr val="0004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solidFill>
                  <a:srgbClr val="0004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400" dirty="0">
                <a:solidFill>
                  <a:srgbClr val="0004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的条件下，</a:t>
            </a:r>
            <a:r>
              <a:rPr lang="en-US" altLang="zh-CN" sz="2400" b="1" i="1" dirty="0">
                <a:solidFill>
                  <a:srgbClr val="0004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solidFill>
                  <a:srgbClr val="0004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400" dirty="0">
                <a:solidFill>
                  <a:srgbClr val="0004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的协差阵称为</a:t>
            </a:r>
            <a:r>
              <a:rPr lang="zh-CN" altLang="zh-CN" sz="2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条件协差阵</a:t>
            </a:r>
            <a:r>
              <a:rPr lang="zh-CN" altLang="zh-CN" sz="2400" dirty="0">
                <a:solidFill>
                  <a:srgbClr val="0004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，记作</a:t>
            </a:r>
            <a:r>
              <a:rPr lang="en-US" altLang="zh-CN" sz="2400" i="1" dirty="0">
                <a:solidFill>
                  <a:srgbClr val="0004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dirty="0">
                <a:solidFill>
                  <a:srgbClr val="0004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4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solidFill>
                  <a:srgbClr val="0004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solidFill>
                  <a:srgbClr val="0004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400" b="1" i="1" dirty="0">
                <a:solidFill>
                  <a:srgbClr val="0004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solidFill>
                  <a:srgbClr val="0004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solidFill>
                  <a:srgbClr val="0004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400" dirty="0">
                <a:solidFill>
                  <a:srgbClr val="0004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zh-CN" altLang="en-US" sz="2400" dirty="0">
                <a:solidFill>
                  <a:srgbClr val="000404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400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		 </a:t>
            </a: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rgbClr val="000808"/>
              </a:solidFill>
            </a:endParaRPr>
          </a:p>
        </p:txBody>
      </p:sp>
      <p:graphicFrame>
        <p:nvGraphicFramePr>
          <p:cNvPr id="174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6372559"/>
              </p:ext>
            </p:extLst>
          </p:nvPr>
        </p:nvGraphicFramePr>
        <p:xfrm>
          <a:off x="2154238" y="394494"/>
          <a:ext cx="3217862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13100" imgH="609600" progId="Equation.DSMT4">
                  <p:embed/>
                </p:oleObj>
              </mc:Choice>
              <mc:Fallback>
                <p:oleObj name="Equation" r:id="rId2" imgW="3213100" imgH="609600" progId="Equation.DSMT4">
                  <p:embed/>
                  <p:pic>
                    <p:nvPicPr>
                      <p:cNvPr id="1741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4238" y="394494"/>
                        <a:ext cx="3217862" cy="617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4" name="Rectangle 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rgbClr val="000808"/>
              </a:solidFill>
            </a:endParaRPr>
          </a:p>
        </p:txBody>
      </p:sp>
      <p:sp>
        <p:nvSpPr>
          <p:cNvPr id="17415" name="Rectangle 11"/>
          <p:cNvSpPr>
            <a:spLocks noChangeArrowheads="1"/>
          </p:cNvSpPr>
          <p:nvPr/>
        </p:nvSpPr>
        <p:spPr bwMode="auto">
          <a:xfrm>
            <a:off x="1524001" y="360469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rgbClr val="000808"/>
              </a:solidFill>
            </a:endParaRPr>
          </a:p>
        </p:txBody>
      </p:sp>
      <p:graphicFrame>
        <p:nvGraphicFramePr>
          <p:cNvPr id="17416" name="Object 8"/>
          <p:cNvGraphicFramePr>
            <a:graphicFrameLocks noChangeAspect="1"/>
          </p:cNvGraphicFramePr>
          <p:nvPr/>
        </p:nvGraphicFramePr>
        <p:xfrm>
          <a:off x="2732484" y="2132856"/>
          <a:ext cx="6819900" cy="287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819840" imgH="2869920" progId="Equation.DSMT4">
                  <p:embed/>
                </p:oleObj>
              </mc:Choice>
              <mc:Fallback>
                <p:oleObj name="Equation" r:id="rId4" imgW="6819840" imgH="2869920" progId="Equation.DSMT4">
                  <p:embed/>
                  <p:pic>
                    <p:nvPicPr>
                      <p:cNvPr id="1741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2484" y="2132856"/>
                        <a:ext cx="6819900" cy="287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7" name="灯片编号占位符 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B607A45-28D0-44B2-84E9-51DC8E61FB43}" type="slidenum">
              <a:rPr lang="en-US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zh-CN"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sz="4000" dirty="0"/>
              <a:t>正定矩阵和</a:t>
            </a:r>
            <a:r>
              <a:rPr lang="zh-CN" altLang="en-US" sz="4000" dirty="0"/>
              <a:t>半正定（</a:t>
            </a:r>
            <a:r>
              <a:rPr lang="zh-CN" altLang="zh-CN" sz="4000" dirty="0"/>
              <a:t>非负定</a:t>
            </a:r>
            <a:r>
              <a:rPr lang="zh-CN" altLang="en-US" sz="4000" dirty="0"/>
              <a:t>）</a:t>
            </a:r>
            <a:r>
              <a:rPr lang="zh-CN" altLang="zh-CN" sz="4000" dirty="0"/>
              <a:t>矩阵</a:t>
            </a:r>
            <a:endParaRPr lang="zh-CN" altLang="en-US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zh-CN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设</a:t>
            </a:r>
            <a:r>
              <a:rPr lang="en-US" altLang="zh-CN" b="1" i="1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zh-CN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是</a:t>
            </a:r>
            <a:r>
              <a:rPr lang="en-US" altLang="zh-CN" i="1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zh-CN" altLang="zh-CN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阶对称矩阵，</a:t>
            </a:r>
            <a:r>
              <a:rPr lang="en-US" altLang="zh-CN" b="1" i="1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zh-CN" altLang="zh-CN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是一</a:t>
            </a:r>
            <a:r>
              <a:rPr lang="en-US" altLang="zh-CN" i="1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zh-CN" altLang="zh-CN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维向量，则</a:t>
            </a:r>
            <a:r>
              <a:rPr lang="en-US" altLang="zh-CN" b="1" i="1" dirty="0" err="1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dirty="0" err="1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′</a:t>
            </a:r>
            <a:r>
              <a:rPr lang="en-US" altLang="zh-CN" b="1" i="1" dirty="0" err="1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Ax</a:t>
            </a:r>
            <a:r>
              <a:rPr lang="zh-CN" altLang="zh-CN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称为</a:t>
            </a:r>
            <a:r>
              <a:rPr lang="en-US" altLang="zh-CN" b="1" i="1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zh-CN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的</a:t>
            </a:r>
            <a:r>
              <a:rPr lang="zh-CN" altLang="zh-CN" dirty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二次型</a:t>
            </a:r>
            <a:r>
              <a:rPr lang="zh-CN" altLang="zh-CN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。</a:t>
            </a:r>
            <a:endParaRPr lang="en-US" altLang="zh-CN" dirty="0">
              <a:solidFill>
                <a:srgbClr val="000808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positive definite</a:t>
            </a:r>
          </a:p>
          <a:p>
            <a:pPr>
              <a:defRPr/>
            </a:pPr>
            <a:r>
              <a:rPr lang="zh-CN" altLang="zh-CN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若对一切</a:t>
            </a:r>
            <a:r>
              <a:rPr lang="en-US" altLang="zh-CN" b="1" i="1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≠</a:t>
            </a:r>
            <a:r>
              <a:rPr lang="en-US" altLang="zh-CN" b="1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zh-CN" altLang="zh-CN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，有</a:t>
            </a:r>
            <a:r>
              <a:rPr lang="en-US" altLang="zh-CN" b="1" i="1" dirty="0" err="1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dirty="0" err="1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′</a:t>
            </a:r>
            <a:r>
              <a:rPr lang="en-US" altLang="zh-CN" b="1" i="1" dirty="0" err="1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Ax</a:t>
            </a:r>
            <a:r>
              <a:rPr lang="en-US" altLang="zh-CN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&gt;0</a:t>
            </a:r>
            <a:r>
              <a:rPr lang="zh-CN" altLang="zh-CN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，则称</a:t>
            </a:r>
            <a:r>
              <a:rPr lang="en-US" altLang="zh-CN" b="1" i="1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zh-CN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为</a:t>
            </a:r>
            <a:r>
              <a:rPr lang="zh-CN" altLang="zh-CN" dirty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正定矩阵</a:t>
            </a:r>
            <a:r>
              <a:rPr lang="zh-CN" altLang="zh-CN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，记作</a:t>
            </a:r>
            <a:r>
              <a:rPr lang="en-US" altLang="zh-CN" b="1" i="1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&gt;0</a:t>
            </a:r>
            <a:r>
              <a:rPr lang="zh-CN" altLang="en-US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。</a:t>
            </a:r>
            <a:endParaRPr lang="en-US" altLang="zh-CN" dirty="0">
              <a:solidFill>
                <a:srgbClr val="000808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altLang="zh-CN" dirty="0">
              <a:solidFill>
                <a:srgbClr val="000808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US" altLang="zh-CN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p.s.d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positive semi-definite</a:t>
            </a:r>
          </a:p>
          <a:p>
            <a:pPr>
              <a:defRPr/>
            </a:pPr>
            <a:r>
              <a:rPr lang="zh-CN" altLang="zh-CN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若对一切</a:t>
            </a:r>
            <a:r>
              <a:rPr lang="en-US" altLang="zh-CN" b="1" i="1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zh-CN" altLang="zh-CN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，有</a:t>
            </a:r>
            <a:r>
              <a:rPr lang="en-US" altLang="zh-CN" b="1" i="1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′</a:t>
            </a:r>
            <a:r>
              <a:rPr lang="en-US" altLang="zh-CN" b="1" i="1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Ax</a:t>
            </a:r>
            <a:r>
              <a:rPr lang="en-US" altLang="zh-CN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≥0</a:t>
            </a:r>
            <a:r>
              <a:rPr lang="zh-CN" altLang="zh-CN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，则称</a:t>
            </a:r>
            <a:r>
              <a:rPr lang="en-US" altLang="zh-CN" b="1" i="1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zh-CN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为</a:t>
            </a:r>
            <a:r>
              <a:rPr lang="zh-CN" altLang="en-US" dirty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半正定矩阵</a:t>
            </a:r>
            <a:r>
              <a:rPr lang="zh-CN" altLang="en-US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（</a:t>
            </a:r>
            <a:r>
              <a:rPr lang="zh-CN" altLang="zh-CN" dirty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非负定矩阵</a:t>
            </a:r>
            <a:r>
              <a:rPr lang="zh-CN" altLang="en-US" dirty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）</a:t>
            </a:r>
            <a:r>
              <a:rPr lang="zh-CN" altLang="zh-CN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，记作</a:t>
            </a:r>
            <a:r>
              <a:rPr lang="en-US" altLang="zh-CN" b="1" i="1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≥0</a:t>
            </a:r>
            <a:r>
              <a:rPr lang="zh-CN" altLang="zh-CN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。</a:t>
            </a:r>
            <a:endParaRPr lang="en-US" altLang="zh-CN" dirty="0">
              <a:solidFill>
                <a:srgbClr val="000808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altLang="zh-CN" dirty="0">
              <a:solidFill>
                <a:srgbClr val="000808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94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F8E3858-F575-40C0-8542-D343A9AB82E2}" type="slidenum">
              <a:rPr lang="en-US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zh-CN"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/>
              <a:t>协差阵的性质</a:t>
            </a:r>
          </a:p>
        </p:txBody>
      </p:sp>
      <p:sp>
        <p:nvSpPr>
          <p:cNvPr id="11270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2400" dirty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(1)</a:t>
            </a:r>
            <a:r>
              <a:rPr lang="en-US" altLang="zh-CN" sz="2400" b="1" i="1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Σ</a:t>
            </a:r>
            <a:r>
              <a:rPr lang="en-US" altLang="zh-CN" sz="2400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≥0</a:t>
            </a:r>
            <a:r>
              <a:rPr lang="zh-CN" altLang="en-US" sz="2400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。</a:t>
            </a:r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推论</a:t>
            </a:r>
            <a:r>
              <a:rPr lang="zh-CN" altLang="en-US" sz="2400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   若</a:t>
            </a:r>
            <a:r>
              <a:rPr lang="en-US" altLang="zh-CN" sz="2400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 altLang="zh-CN" sz="2400" b="1" i="1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Σ</a:t>
            </a:r>
            <a:r>
              <a:rPr lang="en-US" altLang="zh-CN" sz="2400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|≠0</a:t>
            </a:r>
            <a:r>
              <a:rPr lang="zh-CN" altLang="en-US" sz="2400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，则</a:t>
            </a:r>
            <a:r>
              <a:rPr lang="en-US" altLang="zh-CN" sz="2400" b="1" i="1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Σ</a:t>
            </a:r>
            <a:r>
              <a:rPr lang="en-US" altLang="zh-CN" sz="2400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&gt;0</a:t>
            </a:r>
            <a:r>
              <a:rPr lang="zh-CN" altLang="en-US" sz="2400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。 </a:t>
            </a:r>
          </a:p>
          <a:p>
            <a:pPr eaLnBrk="1" hangingPunct="1">
              <a:defRPr/>
            </a:pPr>
            <a:r>
              <a:rPr lang="en-US" altLang="zh-CN" sz="2400" dirty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(2)</a:t>
            </a:r>
            <a:r>
              <a:rPr lang="zh-CN" altLang="en-US" sz="2400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设</a:t>
            </a:r>
            <a:r>
              <a:rPr lang="en-US" altLang="zh-CN" sz="2400" b="1" i="1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en-US" sz="2400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为常数矩阵，</a:t>
            </a:r>
            <a:r>
              <a:rPr lang="en-US" altLang="zh-CN" sz="2400" b="1" i="1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zh-CN" altLang="en-US" sz="2400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为常数向量，则</a:t>
            </a:r>
          </a:p>
          <a:p>
            <a:pPr eaLnBrk="1" hangingPunct="1">
              <a:defRPr/>
            </a:pPr>
            <a:endParaRPr lang="zh-CN" altLang="en-US" sz="2400" dirty="0">
              <a:solidFill>
                <a:srgbClr val="000808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当</a:t>
            </a:r>
            <a:r>
              <a:rPr lang="en-US" altLang="zh-CN" sz="2400" i="1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CN" sz="2400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=1</a:t>
            </a:r>
            <a:r>
              <a:rPr lang="zh-CN" altLang="en-US" sz="2400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时，退化为熟知的</a:t>
            </a:r>
            <a:endParaRPr lang="en-US" altLang="zh-CN" sz="2400" dirty="0">
              <a:solidFill>
                <a:srgbClr val="000808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altLang="zh-CN" sz="2400" dirty="0">
              <a:solidFill>
                <a:schemeClr val="accent6"/>
              </a:solidFill>
            </a:endParaRPr>
          </a:p>
          <a:p>
            <a:pPr>
              <a:defRPr/>
            </a:pPr>
            <a:r>
              <a:rPr lang="en-US" altLang="zh-CN" sz="2400" dirty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(3)</a:t>
            </a:r>
            <a:r>
              <a:rPr lang="zh-CN" altLang="en-US" sz="2400" dirty="0">
                <a:solidFill>
                  <a:srgbClr val="000404"/>
                </a:solidFill>
              </a:rPr>
              <a:t>设</a:t>
            </a:r>
            <a:r>
              <a:rPr lang="en-US" altLang="zh-CN" sz="2400" b="1" i="1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en-US" sz="2400" dirty="0">
                <a:solidFill>
                  <a:srgbClr val="000404"/>
                </a:solidFill>
              </a:rPr>
              <a:t>和</a:t>
            </a:r>
            <a:r>
              <a:rPr lang="en-US" altLang="zh-CN" sz="2400" b="1" i="1" dirty="0">
                <a:solidFill>
                  <a:srgbClr val="000808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zh-CN" altLang="en-US" sz="2400" dirty="0">
                <a:solidFill>
                  <a:srgbClr val="000404"/>
                </a:solidFill>
              </a:rPr>
              <a:t>为常数矩阵，则</a:t>
            </a:r>
            <a:endParaRPr lang="en-US" altLang="zh-CN" sz="2400" dirty="0">
              <a:solidFill>
                <a:srgbClr val="000404"/>
              </a:solidFill>
            </a:endParaRPr>
          </a:p>
          <a:p>
            <a:pPr>
              <a:defRPr/>
            </a:pPr>
            <a:endParaRPr lang="zh-CN" altLang="en-US" sz="2400" dirty="0">
              <a:solidFill>
                <a:srgbClr val="000404"/>
              </a:solidFill>
            </a:endParaRPr>
          </a:p>
          <a:p>
            <a:pPr eaLnBrk="1" hangingPunct="1">
              <a:defRPr/>
            </a:pPr>
            <a:endParaRPr lang="en-US" altLang="zh-CN" sz="2400" dirty="0">
              <a:solidFill>
                <a:srgbClr val="000808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460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rgbClr val="000808"/>
              </a:solidFill>
            </a:endParaRPr>
          </a:p>
        </p:txBody>
      </p:sp>
      <p:graphicFrame>
        <p:nvGraphicFramePr>
          <p:cNvPr id="19462" name="Object 8"/>
          <p:cNvGraphicFramePr>
            <a:graphicFrameLocks noChangeAspect="1"/>
          </p:cNvGraphicFramePr>
          <p:nvPr/>
        </p:nvGraphicFramePr>
        <p:xfrm>
          <a:off x="4602163" y="3212976"/>
          <a:ext cx="2882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82880" imgH="431640" progId="Equation.DSMT4">
                  <p:embed/>
                </p:oleObj>
              </mc:Choice>
              <mc:Fallback>
                <p:oleObj name="Equation" r:id="rId2" imgW="2882880" imgH="431640" progId="Equation.DSMT4">
                  <p:embed/>
                  <p:pic>
                    <p:nvPicPr>
                      <p:cNvPr id="1946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2163" y="3212976"/>
                        <a:ext cx="28829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3" name="Object 9"/>
          <p:cNvGraphicFramePr>
            <a:graphicFrameLocks noChangeAspect="1"/>
          </p:cNvGraphicFramePr>
          <p:nvPr/>
        </p:nvGraphicFramePr>
        <p:xfrm>
          <a:off x="5068888" y="4077072"/>
          <a:ext cx="2438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38280" imgH="444240" progId="Equation.DSMT4">
                  <p:embed/>
                </p:oleObj>
              </mc:Choice>
              <mc:Fallback>
                <p:oleObj name="Equation" r:id="rId4" imgW="2438280" imgH="444240" progId="Equation.DSMT4">
                  <p:embed/>
                  <p:pic>
                    <p:nvPicPr>
                      <p:cNvPr id="1946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8888" y="4077072"/>
                        <a:ext cx="2438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4" name="灯片编号占位符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90F3B1A-8C95-44DE-8BB1-EDC5C4DD49B2}" type="slidenum">
              <a:rPr lang="en-US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zh-CN" sz="1400" dirty="0"/>
          </a:p>
        </p:txBody>
      </p:sp>
      <p:graphicFrame>
        <p:nvGraphicFramePr>
          <p:cNvPr id="9" name="Object 3">
            <a:extLst>
              <a:ext uri="{FF2B5EF4-FFF2-40B4-BE49-F238E27FC236}">
                <a16:creationId xmlns:a16="http://schemas.microsoft.com/office/drawing/2014/main" id="{2AB0370E-18F9-463F-A9EE-482B5B03A9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95685"/>
              </p:ext>
            </p:extLst>
          </p:nvPr>
        </p:nvGraphicFramePr>
        <p:xfrm>
          <a:off x="4364038" y="5133367"/>
          <a:ext cx="3848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848100" imgH="431800" progId="Equation.DSMT4">
                  <p:embed/>
                </p:oleObj>
              </mc:Choice>
              <mc:Fallback>
                <p:oleObj name="Equation" r:id="rId6" imgW="3848100" imgH="431800" progId="Equation.DSMT4">
                  <p:embed/>
                  <p:pic>
                    <p:nvPicPr>
                      <p:cNvPr id="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4038" y="5133367"/>
                        <a:ext cx="38481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328651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0ADD0-A1C0-4AF0-9D50-53626F165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4D391-C99C-41FC-B483-33D248F19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A33F7F-A44E-4F63-AEF6-8D9F46A11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2067"/>
            <a:ext cx="12192000" cy="688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134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28546-6BB3-4DF1-8228-0AA27CE17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0DFB5-E08D-4A63-A015-D40F0C6B8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93FBF9-DF11-46A7-8608-8EB8D3DC0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2067"/>
            <a:ext cx="12192000" cy="688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754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D5683-7A65-4438-AFD3-4C2D3D9EC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72AC6-2FDB-43BD-88EE-0F2D36372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916EB2-09B8-4B74-ADC5-B8F146E88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2067"/>
            <a:ext cx="12192000" cy="688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7062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32930-C90C-4E6B-99F1-9F537AC50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983BA-58F2-497B-8115-1216F94A0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E73D4F-4C49-406A-B796-F8406D37C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2067"/>
            <a:ext cx="12192000" cy="688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857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79416-8189-44CE-92FA-FF7E613B6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5A874-2F8B-4FF7-BD07-C3CDB069C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3E43CE-CE45-421C-A16C-1494D16C4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2067"/>
            <a:ext cx="12192000" cy="688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3003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>
            <a:extLst>
              <a:ext uri="{FF2B5EF4-FFF2-40B4-BE49-F238E27FC236}">
                <a16:creationId xmlns:a16="http://schemas.microsoft.com/office/drawing/2014/main" id="{546B3BEC-E769-4460-B3CB-6922A97C2C06}"/>
              </a:ext>
            </a:extLst>
          </p:cNvPr>
          <p:cNvGrpSpPr/>
          <p:nvPr/>
        </p:nvGrpSpPr>
        <p:grpSpPr>
          <a:xfrm>
            <a:off x="2076782" y="522107"/>
            <a:ext cx="8038436" cy="5756456"/>
            <a:chOff x="3161377" y="522107"/>
            <a:chExt cx="8038436" cy="5756456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C7ADFA1A-C7FB-4D38-A8BA-7BDA1716FEA3}"/>
                </a:ext>
              </a:extLst>
            </p:cNvPr>
            <p:cNvCxnSpPr>
              <a:cxnSpLocks/>
            </p:cNvCxnSpPr>
            <p:nvPr/>
          </p:nvCxnSpPr>
          <p:spPr>
            <a:xfrm>
              <a:off x="3858206" y="5751008"/>
              <a:ext cx="70212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5B32452E-2066-448E-8FAD-79D01C2B55C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53733" y="654266"/>
              <a:ext cx="4473" cy="50938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7FE4C23-4B39-45CB-B235-EA7DF0E83B82}"/>
                </a:ext>
              </a:extLst>
            </p:cNvPr>
            <p:cNvSpPr txBox="1"/>
            <p:nvPr/>
          </p:nvSpPr>
          <p:spPr>
            <a:xfrm>
              <a:off x="6662938" y="3838561"/>
              <a:ext cx="920924" cy="369332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pdate</a:t>
              </a:r>
              <a:endParaRPr 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0" name="Object 2">
              <a:extLst>
                <a:ext uri="{FF2B5EF4-FFF2-40B4-BE49-F238E27FC236}">
                  <a16:creationId xmlns:a16="http://schemas.microsoft.com/office/drawing/2014/main" id="{49868D1C-7DF7-4F32-B647-964CCD02348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370255"/>
                </p:ext>
              </p:extLst>
            </p:nvPr>
          </p:nvGraphicFramePr>
          <p:xfrm>
            <a:off x="3533791" y="522107"/>
            <a:ext cx="322262" cy="530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39680" imgH="228600" progId="Equation.DSMT4">
                    <p:embed/>
                  </p:oleObj>
                </mc:Choice>
                <mc:Fallback>
                  <p:oleObj name="Equation" r:id="rId2" imgW="139680" imgH="228600" progId="Equation.DSMT4">
                    <p:embed/>
                    <p:pic>
                      <p:nvPicPr>
                        <p:cNvPr id="3074" name="Object 2">
                          <a:extLst>
                            <a:ext uri="{FF2B5EF4-FFF2-40B4-BE49-F238E27FC236}">
                              <a16:creationId xmlns:a16="http://schemas.microsoft.com/office/drawing/2014/main" id="{91528333-2925-4E72-B3ED-A0980C8445B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3791" y="522107"/>
                          <a:ext cx="322262" cy="530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51420BF-6EA5-4ED2-9855-6470B3A416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8207" y="3449490"/>
              <a:ext cx="5662441" cy="229865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2AC37FC-7897-47BC-B35C-A70BE9FAC6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3733" y="1154480"/>
              <a:ext cx="5631579" cy="459002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AC44D8F-1E57-412F-8EEC-02CEF88C30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8206" y="2233256"/>
              <a:ext cx="5644774" cy="3511243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aphicFrame>
          <p:nvGraphicFramePr>
            <p:cNvPr id="31" name="Object 2">
              <a:extLst>
                <a:ext uri="{FF2B5EF4-FFF2-40B4-BE49-F238E27FC236}">
                  <a16:creationId xmlns:a16="http://schemas.microsoft.com/office/drawing/2014/main" id="{5316C2F8-7EEE-4EAD-8493-575B89D7E39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7068433"/>
                </p:ext>
              </p:extLst>
            </p:nvPr>
          </p:nvGraphicFramePr>
          <p:xfrm>
            <a:off x="8265953" y="5701280"/>
            <a:ext cx="350837" cy="530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52280" imgH="228600" progId="Equation.DSMT4">
                    <p:embed/>
                  </p:oleObj>
                </mc:Choice>
                <mc:Fallback>
                  <p:oleObj name="Equation" r:id="rId4" imgW="152280" imgH="228600" progId="Equation.DSMT4">
                    <p:embed/>
                    <p:pic>
                      <p:nvPicPr>
                        <p:cNvPr id="20" name="Object 2">
                          <a:extLst>
                            <a:ext uri="{FF2B5EF4-FFF2-40B4-BE49-F238E27FC236}">
                              <a16:creationId xmlns:a16="http://schemas.microsoft.com/office/drawing/2014/main" id="{49868D1C-7DF7-4F32-B647-964CCD02348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65953" y="5701280"/>
                          <a:ext cx="350837" cy="530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2">
              <a:extLst>
                <a:ext uri="{FF2B5EF4-FFF2-40B4-BE49-F238E27FC236}">
                  <a16:creationId xmlns:a16="http://schemas.microsoft.com/office/drawing/2014/main" id="{236530E7-D128-4176-94BA-63EB84196E1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54223785"/>
                </p:ext>
              </p:extLst>
            </p:nvPr>
          </p:nvGraphicFramePr>
          <p:xfrm>
            <a:off x="10731500" y="5748338"/>
            <a:ext cx="468313" cy="530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03040" imgH="228600" progId="Equation.DSMT4">
                    <p:embed/>
                  </p:oleObj>
                </mc:Choice>
                <mc:Fallback>
                  <p:oleObj name="Equation" r:id="rId6" imgW="203040" imgH="228600" progId="Equation.DSMT4">
                    <p:embed/>
                    <p:pic>
                      <p:nvPicPr>
                        <p:cNvPr id="31" name="Object 2">
                          <a:extLst>
                            <a:ext uri="{FF2B5EF4-FFF2-40B4-BE49-F238E27FC236}">
                              <a16:creationId xmlns:a16="http://schemas.microsoft.com/office/drawing/2014/main" id="{5316C2F8-7EEE-4EAD-8493-575B89D7E39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31500" y="5748338"/>
                          <a:ext cx="468313" cy="530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9B900D8-E880-46EA-8931-0FB3A3449A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34873" y="1464906"/>
              <a:ext cx="0" cy="4288048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aphicFrame>
          <p:nvGraphicFramePr>
            <p:cNvPr id="35" name="Object 2">
              <a:extLst>
                <a:ext uri="{FF2B5EF4-FFF2-40B4-BE49-F238E27FC236}">
                  <a16:creationId xmlns:a16="http://schemas.microsoft.com/office/drawing/2014/main" id="{22EF468C-CB91-46E5-A81B-F06A23510DC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13365867"/>
                </p:ext>
              </p:extLst>
            </p:nvPr>
          </p:nvGraphicFramePr>
          <p:xfrm>
            <a:off x="9535420" y="3220133"/>
            <a:ext cx="701675" cy="560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04560" imgH="241200" progId="Equation.DSMT4">
                    <p:embed/>
                  </p:oleObj>
                </mc:Choice>
                <mc:Fallback>
                  <p:oleObj name="Equation" r:id="rId8" imgW="304560" imgH="241200" progId="Equation.DSMT4">
                    <p:embed/>
                    <p:pic>
                      <p:nvPicPr>
                        <p:cNvPr id="32" name="Object 2">
                          <a:extLst>
                            <a:ext uri="{FF2B5EF4-FFF2-40B4-BE49-F238E27FC236}">
                              <a16:creationId xmlns:a16="http://schemas.microsoft.com/office/drawing/2014/main" id="{236530E7-D128-4176-94BA-63EB84196E1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35420" y="3220133"/>
                          <a:ext cx="701675" cy="5603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Object 2">
              <a:extLst>
                <a:ext uri="{FF2B5EF4-FFF2-40B4-BE49-F238E27FC236}">
                  <a16:creationId xmlns:a16="http://schemas.microsoft.com/office/drawing/2014/main" id="{B3C2746D-1D74-4BBA-876A-0A6935C4421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67899647"/>
                </p:ext>
              </p:extLst>
            </p:nvPr>
          </p:nvGraphicFramePr>
          <p:xfrm>
            <a:off x="9525746" y="1939312"/>
            <a:ext cx="496887" cy="560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15640" imgH="241200" progId="Equation.DSMT4">
                    <p:embed/>
                  </p:oleObj>
                </mc:Choice>
                <mc:Fallback>
                  <p:oleObj name="Equation" r:id="rId10" imgW="215640" imgH="241200" progId="Equation.DSMT4">
                    <p:embed/>
                    <p:pic>
                      <p:nvPicPr>
                        <p:cNvPr id="35" name="Object 2">
                          <a:extLst>
                            <a:ext uri="{FF2B5EF4-FFF2-40B4-BE49-F238E27FC236}">
                              <a16:creationId xmlns:a16="http://schemas.microsoft.com/office/drawing/2014/main" id="{22EF468C-CB91-46E5-A81B-F06A23510DC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25746" y="1939312"/>
                          <a:ext cx="496887" cy="5603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" name="Object 2">
              <a:extLst>
                <a:ext uri="{FF2B5EF4-FFF2-40B4-BE49-F238E27FC236}">
                  <a16:creationId xmlns:a16="http://schemas.microsoft.com/office/drawing/2014/main" id="{C66C14D3-4932-4A4A-9B7C-F0C826C9406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9449208"/>
                </p:ext>
              </p:extLst>
            </p:nvPr>
          </p:nvGraphicFramePr>
          <p:xfrm>
            <a:off x="9536906" y="893943"/>
            <a:ext cx="381000" cy="5318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64880" imgH="228600" progId="Equation.DSMT4">
                    <p:embed/>
                  </p:oleObj>
                </mc:Choice>
                <mc:Fallback>
                  <p:oleObj name="Equation" r:id="rId12" imgW="164880" imgH="228600" progId="Equation.DSMT4">
                    <p:embed/>
                    <p:pic>
                      <p:nvPicPr>
                        <p:cNvPr id="37" name="Object 2">
                          <a:extLst>
                            <a:ext uri="{FF2B5EF4-FFF2-40B4-BE49-F238E27FC236}">
                              <a16:creationId xmlns:a16="http://schemas.microsoft.com/office/drawing/2014/main" id="{B3C2746D-1D74-4BBA-876A-0A6935C4421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36906" y="893943"/>
                          <a:ext cx="381000" cy="5318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CE210CC2-21C3-4E56-B0AB-E9581EA1B068}"/>
                </a:ext>
              </a:extLst>
            </p:cNvPr>
            <p:cNvCxnSpPr/>
            <p:nvPr/>
          </p:nvCxnSpPr>
          <p:spPr>
            <a:xfrm flipH="1" flipV="1">
              <a:off x="7489370" y="3500327"/>
              <a:ext cx="233265" cy="60541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7B1B0964-AB4F-48E1-98C9-4F9962A907A1}"/>
                </a:ext>
              </a:extLst>
            </p:cNvPr>
            <p:cNvCxnSpPr/>
            <p:nvPr/>
          </p:nvCxnSpPr>
          <p:spPr>
            <a:xfrm flipH="1">
              <a:off x="3853733" y="3825551"/>
              <a:ext cx="4581140" cy="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62BF88A2-4753-409D-B3C5-96690D26F24C}"/>
                </a:ext>
              </a:extLst>
            </p:cNvPr>
            <p:cNvCxnSpPr/>
            <p:nvPr/>
          </p:nvCxnSpPr>
          <p:spPr>
            <a:xfrm flipH="1">
              <a:off x="3853733" y="1464906"/>
              <a:ext cx="4581140" cy="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aphicFrame>
          <p:nvGraphicFramePr>
            <p:cNvPr id="61" name="Object 2">
              <a:extLst>
                <a:ext uri="{FF2B5EF4-FFF2-40B4-BE49-F238E27FC236}">
                  <a16:creationId xmlns:a16="http://schemas.microsoft.com/office/drawing/2014/main" id="{470CAD41-0924-4006-AD46-AD1365A9C2E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21451520"/>
                </p:ext>
              </p:extLst>
            </p:nvPr>
          </p:nvGraphicFramePr>
          <p:xfrm>
            <a:off x="3161377" y="3545357"/>
            <a:ext cx="674688" cy="560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91960" imgH="241200" progId="Equation.DSMT4">
                    <p:embed/>
                  </p:oleObj>
                </mc:Choice>
                <mc:Fallback>
                  <p:oleObj name="Equation" r:id="rId14" imgW="291960" imgH="241200" progId="Equation.DSMT4">
                    <p:embed/>
                    <p:pic>
                      <p:nvPicPr>
                        <p:cNvPr id="20" name="Object 2">
                          <a:extLst>
                            <a:ext uri="{FF2B5EF4-FFF2-40B4-BE49-F238E27FC236}">
                              <a16:creationId xmlns:a16="http://schemas.microsoft.com/office/drawing/2014/main" id="{49868D1C-7DF7-4F32-B647-964CCD02348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1377" y="3545357"/>
                          <a:ext cx="674688" cy="5603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" name="Object 2">
              <a:extLst>
                <a:ext uri="{FF2B5EF4-FFF2-40B4-BE49-F238E27FC236}">
                  <a16:creationId xmlns:a16="http://schemas.microsoft.com/office/drawing/2014/main" id="{EC78AF17-DD43-4DDB-8D26-93F619F397A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96193475"/>
                </p:ext>
              </p:extLst>
            </p:nvPr>
          </p:nvGraphicFramePr>
          <p:xfrm>
            <a:off x="3487738" y="1216025"/>
            <a:ext cx="381000" cy="530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64880" imgH="228600" progId="Equation.DSMT4">
                    <p:embed/>
                  </p:oleObj>
                </mc:Choice>
                <mc:Fallback>
                  <p:oleObj name="Equation" r:id="rId16" imgW="164880" imgH="228600" progId="Equation.DSMT4">
                    <p:embed/>
                    <p:pic>
                      <p:nvPicPr>
                        <p:cNvPr id="20" name="Object 2">
                          <a:extLst>
                            <a:ext uri="{FF2B5EF4-FFF2-40B4-BE49-F238E27FC236}">
                              <a16:creationId xmlns:a16="http://schemas.microsoft.com/office/drawing/2014/main" id="{49868D1C-7DF7-4F32-B647-964CCD02348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7738" y="1216025"/>
                          <a:ext cx="381000" cy="530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4" name="Left Brace 63">
              <a:extLst>
                <a:ext uri="{FF2B5EF4-FFF2-40B4-BE49-F238E27FC236}">
                  <a16:creationId xmlns:a16="http://schemas.microsoft.com/office/drawing/2014/main" id="{58659D20-4794-4F62-8064-9C84150073A8}"/>
                </a:ext>
              </a:extLst>
            </p:cNvPr>
            <p:cNvSpPr/>
            <p:nvPr/>
          </p:nvSpPr>
          <p:spPr>
            <a:xfrm>
              <a:off x="8142519" y="1475774"/>
              <a:ext cx="277582" cy="530220"/>
            </a:xfrm>
            <a:prstGeom prst="leftBrac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Left Brace 64">
              <a:extLst>
                <a:ext uri="{FF2B5EF4-FFF2-40B4-BE49-F238E27FC236}">
                  <a16:creationId xmlns:a16="http://schemas.microsoft.com/office/drawing/2014/main" id="{EA9340A6-0059-41A2-9CC6-F7F1D3A9B207}"/>
                </a:ext>
              </a:extLst>
            </p:cNvPr>
            <p:cNvSpPr/>
            <p:nvPr/>
          </p:nvSpPr>
          <p:spPr>
            <a:xfrm>
              <a:off x="8041149" y="1999515"/>
              <a:ext cx="382555" cy="1819528"/>
            </a:xfrm>
            <a:prstGeom prst="leftBrac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Left Brace 65">
              <a:extLst>
                <a:ext uri="{FF2B5EF4-FFF2-40B4-BE49-F238E27FC236}">
                  <a16:creationId xmlns:a16="http://schemas.microsoft.com/office/drawing/2014/main" id="{650D12E3-ECB6-4B66-BD39-FEF12EDC4810}"/>
                </a:ext>
              </a:extLst>
            </p:cNvPr>
            <p:cNvSpPr/>
            <p:nvPr/>
          </p:nvSpPr>
          <p:spPr>
            <a:xfrm rot="10800000">
              <a:off x="8441372" y="1472903"/>
              <a:ext cx="548263" cy="2343261"/>
            </a:xfrm>
            <a:prstGeom prst="leftBrace">
              <a:avLst>
                <a:gd name="adj1" fmla="val 8333"/>
                <a:gd name="adj2" fmla="val 46815"/>
              </a:avLst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67" name="Object 2">
              <a:extLst>
                <a:ext uri="{FF2B5EF4-FFF2-40B4-BE49-F238E27FC236}">
                  <a16:creationId xmlns:a16="http://schemas.microsoft.com/office/drawing/2014/main" id="{19413FA2-4CCF-412C-8BC4-41EB57E82BD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01120433"/>
                </p:ext>
              </p:extLst>
            </p:nvPr>
          </p:nvGraphicFramePr>
          <p:xfrm>
            <a:off x="7688263" y="1454150"/>
            <a:ext cx="322262" cy="530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39680" imgH="228600" progId="Equation.DSMT4">
                    <p:embed/>
                  </p:oleObj>
                </mc:Choice>
                <mc:Fallback>
                  <p:oleObj name="Equation" r:id="rId18" imgW="139680" imgH="228600" progId="Equation.DSMT4">
                    <p:embed/>
                    <p:pic>
                      <p:nvPicPr>
                        <p:cNvPr id="62" name="Object 2">
                          <a:extLst>
                            <a:ext uri="{FF2B5EF4-FFF2-40B4-BE49-F238E27FC236}">
                              <a16:creationId xmlns:a16="http://schemas.microsoft.com/office/drawing/2014/main" id="{EC78AF17-DD43-4DDB-8D26-93F619F397A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8263" y="1454150"/>
                          <a:ext cx="322262" cy="530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" name="Object 2">
              <a:extLst>
                <a:ext uri="{FF2B5EF4-FFF2-40B4-BE49-F238E27FC236}">
                  <a16:creationId xmlns:a16="http://schemas.microsoft.com/office/drawing/2014/main" id="{B8FC6207-BA55-48C6-BF6B-201E2BF15DE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03825323"/>
                </p:ext>
              </p:extLst>
            </p:nvPr>
          </p:nvGraphicFramePr>
          <p:xfrm>
            <a:off x="9029388" y="2477725"/>
            <a:ext cx="644525" cy="558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279360" imgH="241200" progId="Equation.DSMT4">
                    <p:embed/>
                  </p:oleObj>
                </mc:Choice>
                <mc:Fallback>
                  <p:oleObj name="Equation" r:id="rId20" imgW="279360" imgH="241200" progId="Equation.DSMT4">
                    <p:embed/>
                    <p:pic>
                      <p:nvPicPr>
                        <p:cNvPr id="67" name="Object 2">
                          <a:extLst>
                            <a:ext uri="{FF2B5EF4-FFF2-40B4-BE49-F238E27FC236}">
                              <a16:creationId xmlns:a16="http://schemas.microsoft.com/office/drawing/2014/main" id="{19413FA2-4CCF-412C-8BC4-41EB57E82BD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29388" y="2477725"/>
                          <a:ext cx="644525" cy="558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8101708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2315A-E25B-49E2-B309-2BB694992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10BC-4145-45E5-B90B-3C6202626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method for estimating a model’s fixed parameters in such a way that the sum of squared errors is as close to zero as possible</a:t>
            </a:r>
          </a:p>
          <a:p>
            <a:r>
              <a:rPr lang="en-US" dirty="0"/>
              <a:t>MLE = Maximum Likelihood Estimation</a:t>
            </a:r>
          </a:p>
          <a:p>
            <a:r>
              <a:rPr lang="zh-CN" altLang="en-US" dirty="0"/>
              <a:t>极大似然估计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9705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2315A-E25B-49E2-B309-2BB694992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MLE = Maximum Likelihood 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9C10BC-4145-45E5-B90B-3C62026261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MLE is a method for estimating a model’s parameters in such a way that we maximize the likelihood that the observed data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) could have generated by our suggested model.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9C10BC-4145-45E5-B90B-3C62026261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61921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8E5F6-3E2E-4E73-BBE2-4F10EA62C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</a:t>
            </a:r>
            <a:r>
              <a:rPr lang="en-US" altLang="zh-CN" dirty="0"/>
              <a:t>asic Time Series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4AEA2-C928-4377-883A-F57A9CAD3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AR</a:t>
            </a:r>
          </a:p>
          <a:p>
            <a:r>
              <a:rPr lang="en-US" dirty="0"/>
              <a:t>MA</a:t>
            </a:r>
          </a:p>
          <a:p>
            <a:r>
              <a:rPr lang="en-US" dirty="0"/>
              <a:t>ARMA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689CDA-3D40-4BF1-BADE-7319B21FA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6899002" cy="186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945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0E3B5-54C0-4C01-809E-A7CA198D5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altLang="zh-CN" dirty="0"/>
            </a:br>
            <a:r>
              <a:rPr lang="zh-CN" altLang="en-US" dirty="0"/>
              <a:t>变量</a:t>
            </a:r>
            <a:br>
              <a:rPr lang="zh-CN" alt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2EBAF-81CC-4EBE-87C6-80EFEA7E5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在计算机程序中，变量不仅可以为整数或浮点数，还可以是字符串要打印出name变量的内容，除了直接写name然后按回车外，还可以用print()函数：</a:t>
            </a:r>
          </a:p>
          <a:p>
            <a:r>
              <a:rPr lang="zh-CN" altLang="en-US" dirty="0"/>
              <a:t>变量的命名：</a:t>
            </a:r>
          </a:p>
          <a:p>
            <a:r>
              <a:rPr lang="zh-CN" altLang="en-US" dirty="0"/>
              <a:t>由数字，字母，下划线组成</a:t>
            </a:r>
          </a:p>
          <a:p>
            <a:r>
              <a:rPr lang="zh-CN" altLang="en-US" dirty="0"/>
              <a:t>数字不能开头</a:t>
            </a:r>
          </a:p>
          <a:p>
            <a:r>
              <a:rPr lang="zh-CN" altLang="en-US" dirty="0"/>
              <a:t>不可以用关键字做变量名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2771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/>
              <a:t>数学运算、运算符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11655"/>
            <a:ext cx="10515600" cy="4351338"/>
          </a:xfrm>
        </p:spPr>
        <p:txBody>
          <a:bodyPr/>
          <a:lstStyle/>
          <a:p>
            <a:r>
              <a:rPr lang="zh-CN" altLang="en-US" sz="2800" dirty="0"/>
              <a:t>算术运算符（</a:t>
            </a:r>
            <a:r>
              <a:rPr lang="en-US" altLang="zh-CN" sz="2800" dirty="0"/>
              <a:t>+</a:t>
            </a:r>
            <a:r>
              <a:rPr lang="zh-CN" altLang="en-US" sz="2800" dirty="0"/>
              <a:t>，</a:t>
            </a:r>
            <a:r>
              <a:rPr lang="en-US" altLang="zh-CN" sz="2800" dirty="0"/>
              <a:t>-</a:t>
            </a:r>
            <a:r>
              <a:rPr lang="zh-CN" altLang="en-US" sz="2800" dirty="0"/>
              <a:t>，</a:t>
            </a:r>
            <a:r>
              <a:rPr lang="en-US" altLang="zh-CN" sz="2800" dirty="0"/>
              <a:t>*,/,//,%</a:t>
            </a:r>
            <a:r>
              <a:rPr lang="zh-CN" altLang="en-US" sz="2800" dirty="0"/>
              <a:t>，</a:t>
            </a:r>
            <a:r>
              <a:rPr lang="en-US" altLang="zh-CN" sz="2800" dirty="0"/>
              <a:t>**</a:t>
            </a:r>
            <a:r>
              <a:rPr lang="zh-CN" altLang="en-US" sz="2800" dirty="0"/>
              <a:t>）</a:t>
            </a:r>
            <a:r>
              <a:rPr lang="en-US" altLang="zh-CN" sz="2800" dirty="0"/>
              <a:t>		</a:t>
            </a:r>
          </a:p>
          <a:p>
            <a:r>
              <a:rPr lang="zh-CN" altLang="en-US" sz="2800" dirty="0"/>
              <a:t>赋值运算符 （</a:t>
            </a:r>
            <a:r>
              <a:rPr lang="en-US" altLang="zh-CN" sz="2800" dirty="0"/>
              <a:t>= </a:t>
            </a:r>
            <a:r>
              <a:rPr lang="zh-CN" altLang="en-US" sz="2800" dirty="0"/>
              <a:t>，</a:t>
            </a:r>
            <a:r>
              <a:rPr lang="en-US" altLang="zh-CN" sz="2800" dirty="0"/>
              <a:t>+=</a:t>
            </a:r>
            <a:r>
              <a:rPr lang="zh-CN" altLang="en-US" sz="2800" dirty="0"/>
              <a:t>，</a:t>
            </a:r>
            <a:r>
              <a:rPr lang="en-US" altLang="zh-CN" sz="2800" dirty="0"/>
              <a:t>-=</a:t>
            </a:r>
            <a:r>
              <a:rPr lang="zh-CN" altLang="en-US" sz="2800" dirty="0"/>
              <a:t>，</a:t>
            </a:r>
            <a:r>
              <a:rPr lang="en-US" altLang="zh-CN" sz="2800" dirty="0"/>
              <a:t>*=</a:t>
            </a:r>
            <a:r>
              <a:rPr lang="zh-CN" altLang="en-US" sz="2800" dirty="0"/>
              <a:t>，</a:t>
            </a:r>
            <a:r>
              <a:rPr lang="en-US" altLang="zh-CN" sz="2800" dirty="0"/>
              <a:t>%=</a:t>
            </a:r>
            <a:r>
              <a:rPr lang="zh-CN" altLang="en-US" sz="2800" dirty="0"/>
              <a:t>，</a:t>
            </a:r>
            <a:r>
              <a:rPr lang="en-US" altLang="zh-CN" sz="2800" dirty="0"/>
              <a:t>/=)	</a:t>
            </a:r>
          </a:p>
          <a:p>
            <a:r>
              <a:rPr lang="zh-CN" altLang="en-US" sz="2800" dirty="0"/>
              <a:t>关系运算符 </a:t>
            </a:r>
            <a:r>
              <a:rPr lang="en-US" altLang="zh-CN" sz="2800" dirty="0"/>
              <a:t>(&lt;,&gt;,&lt;=,&gt;=</a:t>
            </a:r>
            <a:r>
              <a:rPr lang="zh-CN" altLang="en-US" sz="2800" dirty="0"/>
              <a:t>，！</a:t>
            </a:r>
            <a:r>
              <a:rPr lang="en-US" altLang="zh-CN" sz="2800" dirty="0"/>
              <a:t>=</a:t>
            </a:r>
            <a:r>
              <a:rPr lang="zh-CN" altLang="en-US" sz="2800" dirty="0"/>
              <a:t>，</a:t>
            </a:r>
            <a:r>
              <a:rPr lang="en-US" altLang="zh-CN" sz="2800" dirty="0"/>
              <a:t>==</a:t>
            </a:r>
            <a:r>
              <a:rPr lang="zh-CN" altLang="en-US" sz="2800" dirty="0"/>
              <a:t>）</a:t>
            </a:r>
            <a:r>
              <a:rPr lang="en-US" altLang="zh-CN" sz="2800" dirty="0"/>
              <a:t>	</a:t>
            </a:r>
          </a:p>
          <a:p>
            <a:r>
              <a:rPr lang="zh-CN" altLang="en-US" sz="2800" dirty="0"/>
              <a:t>逻辑运算符（</a:t>
            </a:r>
            <a:r>
              <a:rPr lang="en-US" altLang="zh-CN" sz="2800" dirty="0"/>
              <a:t>and</a:t>
            </a:r>
            <a:r>
              <a:rPr lang="zh-CN" altLang="en-US" sz="2800" dirty="0"/>
              <a:t>，</a:t>
            </a:r>
            <a:r>
              <a:rPr lang="en-US" altLang="zh-CN" sz="2800" dirty="0"/>
              <a:t>not</a:t>
            </a:r>
            <a:r>
              <a:rPr lang="zh-CN" altLang="en-US" sz="2800" dirty="0"/>
              <a:t>，</a:t>
            </a:r>
            <a:r>
              <a:rPr lang="en-US" altLang="zh-CN" sz="2800" dirty="0"/>
              <a:t>or</a:t>
            </a:r>
            <a:r>
              <a:rPr lang="zh-CN" altLang="en-US" sz="2800" dirty="0"/>
              <a:t>）</a:t>
            </a:r>
            <a:r>
              <a:rPr lang="en-US" altLang="zh-CN" sz="2800" dirty="0"/>
              <a:t>	</a:t>
            </a:r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6605" y="227965"/>
            <a:ext cx="10163175" cy="1034415"/>
          </a:xfrm>
        </p:spPr>
        <p:txBody>
          <a:bodyPr/>
          <a:lstStyle/>
          <a:p>
            <a:r>
              <a:rPr lang="zh-CN" altLang="en-US" dirty="0"/>
              <a:t>运算符优先级顺序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5105" y="1431290"/>
            <a:ext cx="6056630" cy="46513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827135" y="1431290"/>
            <a:ext cx="1906270" cy="465201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800"/>
              <a:t>当表达式中含多种运算时，必须按一定顺序进行结合，才能保证运算的合理性和结果的正确性、唯一性</a:t>
            </a:r>
            <a:r>
              <a:rPr lang="zh-CN" altLang="en-US"/>
              <a:t>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27735" y="356235"/>
            <a:ext cx="10336530" cy="5452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字符串的基本操作</a:t>
            </a:r>
          </a:p>
          <a:p>
            <a:r>
              <a:rPr lang="en-US" altLang="zh-CN" sz="2800"/>
              <a:t>1.</a:t>
            </a:r>
            <a:r>
              <a:rPr lang="zh-CN" altLang="en-US" sz="2800"/>
              <a:t>字符串的分片和索引 </a:t>
            </a:r>
            <a:r>
              <a:rPr lang="zh-CN" altLang="en-US"/>
              <a:t>       </a:t>
            </a:r>
          </a:p>
          <a:p>
            <a:r>
              <a:rPr lang="zh-CN" altLang="en-US"/>
              <a:t>                                                              </a:t>
            </a:r>
            <a:r>
              <a:rPr lang="zh-CN" altLang="en-US" sz="2400"/>
              <a:t> </a:t>
            </a:r>
            <a:r>
              <a:rPr lang="en-US" altLang="zh-CN" sz="2800">
                <a:sym typeface="+mn-ea"/>
              </a:rPr>
              <a:t>string[i:j:k]</a:t>
            </a:r>
            <a:endParaRPr lang="zh-CN" altLang="en-US" sz="2800"/>
          </a:p>
          <a:p>
            <a:pPr algn="ctr"/>
            <a:r>
              <a:rPr lang="zh-CN" altLang="en-US">
                <a:sym typeface="+mn-ea"/>
              </a:rPr>
              <a:t> 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 sz="2800"/>
          </a:p>
          <a:p>
            <a:r>
              <a:rPr lang="zh-CN" altLang="en-US" sz="2800"/>
              <a:t>成员关系操作符（</a:t>
            </a:r>
            <a:r>
              <a:rPr lang="en-US" altLang="zh-CN" sz="2800"/>
              <a:t>in</a:t>
            </a:r>
            <a:r>
              <a:rPr lang="zh-CN" altLang="en-US" sz="2800"/>
              <a:t>，</a:t>
            </a:r>
            <a:r>
              <a:rPr lang="en-US" altLang="zh-CN" sz="2800"/>
              <a:t>not in</a:t>
            </a:r>
            <a:r>
              <a:rPr lang="zh-CN" altLang="en-US" sz="2800"/>
              <a:t>）</a:t>
            </a:r>
          </a:p>
          <a:p>
            <a:r>
              <a:rPr lang="en-US" altLang="zh-CN"/>
              <a:t>                                                                                              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1105" y="1873885"/>
            <a:ext cx="8608060" cy="204787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0885" y="165735"/>
            <a:ext cx="10515600" cy="1325563"/>
          </a:xfrm>
        </p:spPr>
        <p:txBody>
          <a:bodyPr/>
          <a:lstStyle/>
          <a:p>
            <a:r>
              <a:rPr lang="zh-CN" altLang="en-US"/>
              <a:t>字符串其他方法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83970"/>
            <a:ext cx="10515600" cy="4351338"/>
          </a:xfrm>
        </p:spPr>
        <p:txBody>
          <a:bodyPr/>
          <a:lstStyle/>
          <a:p>
            <a:r>
              <a:rPr lang="zh-CN" altLang="en-US"/>
              <a:t>什么是对象</a:t>
            </a:r>
          </a:p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47215"/>
            <a:ext cx="9803130" cy="19964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141855" y="3843655"/>
            <a:ext cx="3235960" cy="3107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/>
              <a:t>capitalize</a:t>
            </a:r>
            <a:r>
              <a:rPr lang="zh-CN" altLang="en-US" sz="2800"/>
              <a:t>（）</a:t>
            </a:r>
          </a:p>
          <a:p>
            <a:r>
              <a:rPr lang="en-US" altLang="zh-CN" sz="2800"/>
              <a:t>count</a:t>
            </a:r>
            <a:r>
              <a:rPr lang="zh-CN" altLang="en-US" sz="2800"/>
              <a:t>（）</a:t>
            </a:r>
          </a:p>
          <a:p>
            <a:r>
              <a:rPr lang="en-US" altLang="zh-CN" sz="2800"/>
              <a:t>find</a:t>
            </a:r>
            <a:r>
              <a:rPr lang="zh-CN" altLang="en-US" sz="2800"/>
              <a:t>（）</a:t>
            </a:r>
          </a:p>
          <a:p>
            <a:r>
              <a:rPr lang="en-US" altLang="zh-CN" sz="2800"/>
              <a:t>join</a:t>
            </a:r>
            <a:r>
              <a:rPr lang="zh-CN" altLang="en-US" sz="2800"/>
              <a:t>（）</a:t>
            </a:r>
          </a:p>
          <a:p>
            <a:r>
              <a:rPr lang="en-US" altLang="zh-CN" sz="2800"/>
              <a:t>split</a:t>
            </a:r>
            <a:r>
              <a:rPr lang="zh-CN" altLang="en-US" sz="2800"/>
              <a:t>（）</a:t>
            </a:r>
          </a:p>
          <a:p>
            <a:r>
              <a:rPr lang="en-US" altLang="zh-CN" sz="2800"/>
              <a:t>title</a:t>
            </a:r>
            <a:r>
              <a:rPr lang="zh-CN" altLang="en-US" sz="2800"/>
              <a:t>（）</a:t>
            </a:r>
          </a:p>
          <a:p>
            <a:endParaRPr lang="zh-CN" altLang="en-US" sz="2800"/>
          </a:p>
        </p:txBody>
      </p:sp>
      <p:sp>
        <p:nvSpPr>
          <p:cNvPr id="9" name="文本框 8"/>
          <p:cNvSpPr txBox="1"/>
          <p:nvPr/>
        </p:nvSpPr>
        <p:spPr>
          <a:xfrm>
            <a:off x="6502400" y="4110990"/>
            <a:ext cx="522922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不要背！</a:t>
            </a:r>
          </a:p>
          <a:p>
            <a:r>
              <a:rPr lang="zh-CN" altLang="en-US" sz="2800"/>
              <a:t>查手册</a:t>
            </a:r>
          </a:p>
          <a:p>
            <a:r>
              <a:rPr lang="zh-CN" altLang="en-US" sz="2800"/>
              <a:t>关键时候  </a:t>
            </a:r>
            <a:r>
              <a:rPr lang="en-US" altLang="zh-CN" sz="2800"/>
              <a:t>help</a:t>
            </a:r>
            <a:r>
              <a:rPr lang="zh-CN" altLang="en-US" sz="2800"/>
              <a:t>（）</a:t>
            </a:r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811530" y="1744345"/>
            <a:ext cx="10875010" cy="28378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en-US" altLang="zh-CN" sz="28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If </a:t>
            </a:r>
            <a:r>
              <a:rPr lang="zh-CN" altLang="en-US" sz="28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条件：</a:t>
            </a:r>
          </a:p>
          <a:p>
            <a:pPr indent="0"/>
            <a:r>
              <a:rPr lang="zh-CN" altLang="en-US" sz="28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代码块</a:t>
            </a:r>
          </a:p>
          <a:p>
            <a:pPr indent="0"/>
            <a:r>
              <a:rPr lang="en-US" altLang="zh-CN" sz="28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Elif </a:t>
            </a:r>
            <a:r>
              <a:rPr lang="zh-CN" altLang="en-US" sz="28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条件：</a:t>
            </a:r>
          </a:p>
          <a:p>
            <a:pPr indent="0"/>
            <a:r>
              <a:rPr lang="zh-CN" altLang="en-US" sz="28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代码块</a:t>
            </a:r>
          </a:p>
          <a:p>
            <a:pPr indent="0"/>
            <a:r>
              <a:rPr lang="en-US" altLang="zh-CN" sz="28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Else</a:t>
            </a:r>
            <a:r>
              <a:rPr lang="zh-CN" altLang="en-US" sz="28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</a:p>
          <a:p>
            <a:pPr indent="0"/>
            <a:r>
              <a:rPr lang="zh-CN" altLang="en-US" sz="28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代码块</a:t>
            </a:r>
          </a:p>
          <a:p>
            <a:pPr indent="0"/>
            <a:r>
              <a:rPr lang="en-US" altLang="zh-CN" sz="105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59105" y="391795"/>
            <a:ext cx="105975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/>
              <a:t>分支结构</a:t>
            </a:r>
            <a:r>
              <a:rPr lang="en-US" altLang="zh-CN" sz="3200"/>
              <a:t>——if</a:t>
            </a:r>
            <a:r>
              <a:rPr lang="zh-CN" altLang="en-US" sz="3200"/>
              <a:t>语句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4550" y="500380"/>
            <a:ext cx="5761990" cy="580517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06070" y="1005205"/>
            <a:ext cx="5382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ym typeface="+mn-ea"/>
              </a:rPr>
              <a:t>布尔值经常用在条件判断中，比如：</a:t>
            </a:r>
            <a:endParaRPr lang="zh-CN" altLang="en-US" sz="2400"/>
          </a:p>
        </p:txBody>
      </p:sp>
      <p:sp>
        <p:nvSpPr>
          <p:cNvPr id="2" name="文本框 1"/>
          <p:cNvSpPr txBox="1"/>
          <p:nvPr/>
        </p:nvSpPr>
        <p:spPr>
          <a:xfrm>
            <a:off x="551180" y="4582160"/>
            <a:ext cx="38188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ym typeface="+mn-ea"/>
              </a:rPr>
              <a:t>布尔值与逻辑运算符</a:t>
            </a:r>
          </a:p>
          <a:p>
            <a:r>
              <a:rPr lang="zh-CN" altLang="en-US" sz="2400"/>
              <a:t>条件不只一个</a:t>
            </a:r>
          </a:p>
        </p:txBody>
      </p:sp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常见数据结构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44489"/>
            <a:ext cx="10515600" cy="5209657"/>
          </a:xfrm>
        </p:spPr>
        <p:txBody>
          <a:bodyPr>
            <a:noAutofit/>
          </a:bodyPr>
          <a:lstStyle/>
          <a:p>
            <a:r>
              <a:rPr lang="zh-CN" altLang="en-US" sz="2800" dirty="0"/>
              <a:t>数字</a:t>
            </a:r>
            <a:r>
              <a:rPr lang="en-US" altLang="zh-CN" dirty="0"/>
              <a:t>           </a:t>
            </a:r>
            <a:r>
              <a:rPr lang="en-US" altLang="zh-CN" sz="2800" dirty="0"/>
              <a:t>int float complex</a:t>
            </a:r>
          </a:p>
          <a:p>
            <a:r>
              <a:rPr lang="zh-CN" altLang="en-US" sz="2800" dirty="0"/>
              <a:t>布尔值</a:t>
            </a:r>
            <a:r>
              <a:rPr lang="en-US" altLang="zh-CN" sz="2800" dirty="0"/>
              <a:t>       </a:t>
            </a:r>
            <a:r>
              <a:rPr lang="en-US" altLang="zh-CN" dirty="0"/>
              <a:t>T</a:t>
            </a:r>
            <a:r>
              <a:rPr lang="en-US" altLang="zh-CN" sz="2800" dirty="0"/>
              <a:t>rue       False</a:t>
            </a:r>
          </a:p>
          <a:p>
            <a:r>
              <a:rPr lang="zh-CN" altLang="en-US" sz="2800" dirty="0"/>
              <a:t>字符串</a:t>
            </a:r>
            <a:r>
              <a:rPr lang="en-US" altLang="zh-CN" sz="2800" dirty="0"/>
              <a:t> </a:t>
            </a:r>
            <a:r>
              <a:rPr lang="en-US" altLang="zh-CN" dirty="0"/>
              <a:t>      </a:t>
            </a:r>
            <a:r>
              <a:rPr lang="en-US" altLang="zh-CN" sz="2800" dirty="0"/>
              <a:t>“”</a:t>
            </a:r>
            <a:r>
              <a:rPr lang="zh-CN" altLang="en-US" sz="2800" dirty="0"/>
              <a:t>，</a:t>
            </a:r>
            <a:r>
              <a:rPr lang="en-US" altLang="zh-CN" sz="2800" dirty="0"/>
              <a:t>'’</a:t>
            </a:r>
            <a:r>
              <a:rPr lang="zh-CN" altLang="en-US" sz="2800" dirty="0"/>
              <a:t>，</a:t>
            </a:r>
            <a:r>
              <a:rPr lang="en-US" altLang="zh-CN" sz="2800" dirty="0"/>
              <a:t>“‘”’</a:t>
            </a:r>
          </a:p>
          <a:p>
            <a:r>
              <a:rPr lang="zh-CN" altLang="en-US" sz="2800" dirty="0"/>
              <a:t>列表</a:t>
            </a:r>
            <a:r>
              <a:rPr lang="en-US" altLang="zh-CN" sz="2800" dirty="0"/>
              <a:t>[] </a:t>
            </a:r>
          </a:p>
          <a:p>
            <a:r>
              <a:rPr lang="zh-CN" altLang="en-US" sz="2800" dirty="0"/>
              <a:t>元组（）</a:t>
            </a:r>
          </a:p>
          <a:p>
            <a:r>
              <a:rPr lang="zh-CN" altLang="en-US" sz="2800" dirty="0"/>
              <a:t>字典</a:t>
            </a:r>
            <a:r>
              <a:rPr lang="en-US" altLang="zh-CN" sz="2800" dirty="0"/>
              <a:t>{}</a:t>
            </a:r>
          </a:p>
          <a:p>
            <a:r>
              <a:rPr lang="zh-CN" altLang="en-US" sz="2800" dirty="0"/>
              <a:t>集合</a:t>
            </a:r>
            <a:endParaRPr lang="en-US" altLang="zh-CN" sz="2800" dirty="0"/>
          </a:p>
          <a:p>
            <a:r>
              <a:rPr lang="en-US" altLang="zh-CN" dirty="0" err="1"/>
              <a:t>ndArray</a:t>
            </a:r>
            <a:endParaRPr lang="en-US" altLang="zh-CN" dirty="0"/>
          </a:p>
          <a:p>
            <a:r>
              <a:rPr lang="en-US" altLang="zh-CN" dirty="0"/>
              <a:t>Series</a:t>
            </a:r>
          </a:p>
          <a:p>
            <a:r>
              <a:rPr lang="en-US" altLang="zh-CN" sz="2800" dirty="0" err="1"/>
              <a:t>DataFrame</a:t>
            </a:r>
            <a:endParaRPr lang="zh-CN" altLang="en-US" sz="2800" dirty="0"/>
          </a:p>
        </p:txBody>
      </p:sp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循环结构</a:t>
            </a:r>
            <a:r>
              <a:rPr lang="en-US" altLang="zh-CN"/>
              <a:t>——for</a:t>
            </a:r>
            <a:r>
              <a:rPr lang="zh-CN" altLang="en-US"/>
              <a:t>，</a:t>
            </a:r>
            <a:r>
              <a:rPr lang="en-US" altLang="zh-CN"/>
              <a:t>while</a:t>
            </a:r>
            <a:r>
              <a:rPr lang="zh-CN" altLang="en-US"/>
              <a:t>循环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3200" dirty="0"/>
              <a:t>for </a:t>
            </a:r>
            <a:r>
              <a:rPr lang="zh-CN" altLang="en-US" sz="3200" dirty="0"/>
              <a:t>循环语法</a:t>
            </a:r>
          </a:p>
          <a:p>
            <a:r>
              <a:rPr lang="en-US" altLang="zh-CN" sz="3200" dirty="0"/>
              <a:t>for </a:t>
            </a:r>
            <a:r>
              <a:rPr lang="zh-CN" altLang="en-US" sz="3200" dirty="0"/>
              <a:t>迭代变量 </a:t>
            </a:r>
            <a:r>
              <a:rPr lang="en-US" altLang="zh-CN" sz="3200" dirty="0"/>
              <a:t>in </a:t>
            </a:r>
            <a:r>
              <a:rPr lang="zh-CN" altLang="en-US" sz="3200" dirty="0"/>
              <a:t>序列：</a:t>
            </a:r>
          </a:p>
          <a:p>
            <a:pPr marL="457200" lvl="1" indent="0">
              <a:buNone/>
            </a:pPr>
            <a:r>
              <a:rPr lang="zh-CN" altLang="en-US" sz="3200" dirty="0"/>
              <a:t>代码 </a:t>
            </a:r>
            <a:r>
              <a:rPr lang="en-US" altLang="zh-CN" sz="3200" dirty="0"/>
              <a:t>	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38200" y="4678045"/>
            <a:ext cx="89109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range</a:t>
            </a:r>
            <a:r>
              <a:rPr lang="zh-CN" altLang="en-US" sz="2800" dirty="0"/>
              <a:t>（）函数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833940" y="1690688"/>
            <a:ext cx="568833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while</a:t>
            </a:r>
            <a:r>
              <a:rPr lang="zh-CN" altLang="en-US" sz="3200" dirty="0"/>
              <a:t>循环语法</a:t>
            </a:r>
          </a:p>
          <a:p>
            <a:endParaRPr lang="en-US" altLang="zh-CN" sz="3200" dirty="0"/>
          </a:p>
          <a:p>
            <a:r>
              <a:rPr lang="en-US" altLang="zh-CN" sz="3200" dirty="0"/>
              <a:t>while </a:t>
            </a:r>
            <a:r>
              <a:rPr lang="zh-CN" altLang="en-US" sz="3200" dirty="0"/>
              <a:t>条件：</a:t>
            </a:r>
          </a:p>
          <a:p>
            <a:r>
              <a:rPr lang="en-US" altLang="zh-CN" sz="3200" dirty="0"/>
              <a:t>	</a:t>
            </a:r>
            <a:r>
              <a:rPr lang="zh-CN" altLang="en-US" sz="3200" dirty="0"/>
              <a:t>代码块</a:t>
            </a:r>
          </a:p>
        </p:txBody>
      </p: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循环控制</a:t>
            </a:r>
            <a:r>
              <a:rPr lang="en-US" altLang="zh-CN"/>
              <a:t>	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3200" dirty="0"/>
              <a:t>continue</a:t>
            </a:r>
          </a:p>
          <a:p>
            <a:r>
              <a:rPr lang="en-US" altLang="zh-CN" sz="3200" dirty="0"/>
              <a:t>break</a:t>
            </a:r>
          </a:p>
          <a:p>
            <a:r>
              <a:rPr lang="en-US" altLang="zh-CN" sz="3200" dirty="0"/>
              <a:t>pass</a:t>
            </a:r>
          </a:p>
        </p:txBody>
      </p:sp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8DF04-904C-4F16-952D-D7192BDA6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34364-D2FE-4D64-9DE6-70A69C741F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08531"/>
            <a:ext cx="5181600" cy="4351338"/>
          </a:xfrm>
        </p:spPr>
        <p:txBody>
          <a:bodyPr>
            <a:normAutofit/>
          </a:bodyPr>
          <a:lstStyle/>
          <a:p>
            <a:r>
              <a:rPr lang="en-US" dirty="0"/>
              <a:t>Class parameter</a:t>
            </a:r>
          </a:p>
          <a:p>
            <a:pPr lvl="1"/>
            <a:r>
              <a:rPr lang="en-US" dirty="0"/>
              <a:t>mu</a:t>
            </a:r>
          </a:p>
          <a:p>
            <a:pPr lvl="1"/>
            <a:r>
              <a:rPr lang="en-US" dirty="0"/>
              <a:t>F</a:t>
            </a:r>
          </a:p>
          <a:p>
            <a:pPr lvl="1"/>
            <a:r>
              <a:rPr lang="en-US" dirty="0"/>
              <a:t>R</a:t>
            </a:r>
          </a:p>
          <a:p>
            <a:pPr lvl="1"/>
            <a:r>
              <a:rPr lang="en-US" dirty="0"/>
              <a:t>q</a:t>
            </a:r>
          </a:p>
          <a:p>
            <a:pPr lvl="1"/>
            <a:r>
              <a:rPr lang="en-US" dirty="0"/>
              <a:t>Q</a:t>
            </a:r>
          </a:p>
          <a:p>
            <a:pPr lvl="1"/>
            <a:r>
              <a:rPr lang="en-US" dirty="0"/>
              <a:t>beta00</a:t>
            </a:r>
          </a:p>
          <a:p>
            <a:pPr lvl="1"/>
            <a:r>
              <a:rPr lang="en-US" dirty="0"/>
              <a:t>p00</a:t>
            </a:r>
          </a:p>
          <a:p>
            <a:pPr lvl="1"/>
            <a:r>
              <a:rPr lang="en-US" dirty="0"/>
              <a:t>P00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1AC676-86AC-4FC9-B9F7-E506FB024E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82714"/>
            <a:ext cx="5181600" cy="5032375"/>
          </a:xfrm>
        </p:spPr>
        <p:txBody>
          <a:bodyPr>
            <a:normAutofit/>
          </a:bodyPr>
          <a:lstStyle/>
          <a:p>
            <a:r>
              <a:rPr lang="en-US" dirty="0"/>
              <a:t>Class data</a:t>
            </a:r>
          </a:p>
          <a:p>
            <a:pPr lvl="1"/>
            <a:r>
              <a:rPr lang="en-US" dirty="0"/>
              <a:t>y</a:t>
            </a:r>
          </a:p>
          <a:p>
            <a:pPr lvl="1"/>
            <a:r>
              <a:rPr lang="en-US" dirty="0"/>
              <a:t>x</a:t>
            </a:r>
          </a:p>
          <a:p>
            <a:r>
              <a:rPr lang="en-US" dirty="0"/>
              <a:t>Class prediction</a:t>
            </a:r>
          </a:p>
          <a:p>
            <a:pPr lvl="1"/>
            <a:r>
              <a:rPr lang="en-US" dirty="0"/>
              <a:t>beta</a:t>
            </a:r>
          </a:p>
          <a:p>
            <a:pPr lvl="1"/>
            <a:r>
              <a:rPr lang="en-US" dirty="0"/>
              <a:t>P</a:t>
            </a:r>
          </a:p>
          <a:p>
            <a:pPr lvl="1"/>
            <a:r>
              <a:rPr lang="en-US" dirty="0"/>
              <a:t>eta</a:t>
            </a:r>
          </a:p>
          <a:p>
            <a:pPr lvl="1"/>
            <a:r>
              <a:rPr lang="en-US" dirty="0"/>
              <a:t>f</a:t>
            </a:r>
          </a:p>
          <a:p>
            <a:r>
              <a:rPr lang="en-US" dirty="0"/>
              <a:t>Class updating</a:t>
            </a:r>
          </a:p>
          <a:p>
            <a:pPr lvl="1"/>
            <a:r>
              <a:rPr lang="en-US" dirty="0"/>
              <a:t>beta</a:t>
            </a:r>
          </a:p>
          <a:p>
            <a:pPr lvl="1"/>
            <a:r>
              <a:rPr lang="en-US" dirty="0"/>
              <a:t>P</a:t>
            </a:r>
          </a:p>
          <a:p>
            <a:pPr lvl="1"/>
            <a:r>
              <a:rPr lang="en-US" dirty="0"/>
              <a:t>K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9516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38D76807-12EF-49A4-9202-7A561A4D1C50}"/>
              </a:ext>
            </a:extLst>
          </p:cNvPr>
          <p:cNvGrpSpPr/>
          <p:nvPr/>
        </p:nvGrpSpPr>
        <p:grpSpPr>
          <a:xfrm>
            <a:off x="2208245" y="284583"/>
            <a:ext cx="7775510" cy="6288834"/>
            <a:chOff x="3937518" y="569166"/>
            <a:chExt cx="7775510" cy="628883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AAFCEA1-C40B-45C1-904C-B8A00B53FA7D}"/>
                </a:ext>
              </a:extLst>
            </p:cNvPr>
            <p:cNvSpPr/>
            <p:nvPr/>
          </p:nvSpPr>
          <p:spPr>
            <a:xfrm>
              <a:off x="5162938" y="569166"/>
              <a:ext cx="1866123" cy="93306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Model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BB5FC901-F8A3-4628-A648-A31EEE42A650}"/>
                </a:ext>
              </a:extLst>
            </p:cNvPr>
            <p:cNvCxnSpPr/>
            <p:nvPr/>
          </p:nvCxnSpPr>
          <p:spPr>
            <a:xfrm flipH="1">
              <a:off x="4870580" y="1502228"/>
              <a:ext cx="914400" cy="12036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57CFF76-C35F-4382-9529-945C75AC3B72}"/>
                </a:ext>
              </a:extLst>
            </p:cNvPr>
            <p:cNvSpPr/>
            <p:nvPr/>
          </p:nvSpPr>
          <p:spPr>
            <a:xfrm>
              <a:off x="3937518" y="2705878"/>
              <a:ext cx="1866123" cy="93306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Parameters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8CFE451-C227-425D-AE9E-50F1C58ABA9A}"/>
                </a:ext>
              </a:extLst>
            </p:cNvPr>
            <p:cNvSpPr/>
            <p:nvPr/>
          </p:nvSpPr>
          <p:spPr>
            <a:xfrm>
              <a:off x="6736703" y="2705878"/>
              <a:ext cx="1866123" cy="93306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Sample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8438543-F0F7-413B-8E07-0BE9B5FAB471}"/>
                </a:ext>
              </a:extLst>
            </p:cNvPr>
            <p:cNvCxnSpPr>
              <a:cxnSpLocks/>
              <a:endCxn id="10" idx="0"/>
            </p:cNvCxnSpPr>
            <p:nvPr/>
          </p:nvCxnSpPr>
          <p:spPr>
            <a:xfrm>
              <a:off x="6534538" y="1502228"/>
              <a:ext cx="1135227" cy="12036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2A3D6E2-7F07-4D8B-9573-B53472DB34FE}"/>
                </a:ext>
              </a:extLst>
            </p:cNvPr>
            <p:cNvCxnSpPr>
              <a:cxnSpLocks/>
            </p:cNvCxnSpPr>
            <p:nvPr/>
          </p:nvCxnSpPr>
          <p:spPr>
            <a:xfrm>
              <a:off x="6913984" y="3638940"/>
              <a:ext cx="0" cy="7184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5C59919-7560-4630-B9CB-C9334FE8B898}"/>
                </a:ext>
              </a:extLst>
            </p:cNvPr>
            <p:cNvSpPr/>
            <p:nvPr/>
          </p:nvSpPr>
          <p:spPr>
            <a:xfrm>
              <a:off x="5794311" y="4357396"/>
              <a:ext cx="1866123" cy="93306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A_period</a:t>
              </a:r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DB61BEC-0212-4925-99A3-4082E5CCF0FA}"/>
                </a:ext>
              </a:extLst>
            </p:cNvPr>
            <p:cNvSpPr/>
            <p:nvPr/>
          </p:nvSpPr>
          <p:spPr>
            <a:xfrm>
              <a:off x="7847045" y="4357396"/>
              <a:ext cx="1866123" cy="93306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A_period</a:t>
              </a:r>
              <a:endParaRPr lang="en-US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9E0B937-19FF-4E5B-B3CC-D8EC913454CF}"/>
                </a:ext>
              </a:extLst>
            </p:cNvPr>
            <p:cNvCxnSpPr>
              <a:cxnSpLocks/>
            </p:cNvCxnSpPr>
            <p:nvPr/>
          </p:nvCxnSpPr>
          <p:spPr>
            <a:xfrm>
              <a:off x="8111413" y="3638940"/>
              <a:ext cx="0" cy="7184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C92BA0B-BCE0-4C5D-BFE3-8058EFFA8D9D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>
              <a:off x="8497078" y="3638940"/>
              <a:ext cx="2282889" cy="7184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DC7FD03-463D-45CF-87F1-BA898E13F0E1}"/>
                </a:ext>
              </a:extLst>
            </p:cNvPr>
            <p:cNvSpPr/>
            <p:nvPr/>
          </p:nvSpPr>
          <p:spPr>
            <a:xfrm>
              <a:off x="9846905" y="4357396"/>
              <a:ext cx="1866123" cy="93306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</a:t>
              </a:r>
              <a:r>
                <a:rPr lang="en-US" altLang="zh-CN" dirty="0"/>
                <a:t>ther periods</a:t>
              </a:r>
              <a:endParaRPr lang="en-US" dirty="0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86D20838-BA91-4C4B-A686-607416ECA8FC}"/>
                </a:ext>
              </a:extLst>
            </p:cNvPr>
            <p:cNvCxnSpPr>
              <a:cxnSpLocks/>
              <a:endCxn id="26" idx="0"/>
            </p:cNvCxnSpPr>
            <p:nvPr/>
          </p:nvCxnSpPr>
          <p:spPr>
            <a:xfrm flipH="1">
              <a:off x="6718042" y="5290458"/>
              <a:ext cx="18662" cy="6344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373CEA98-1F16-4413-A15A-0FF53F9E938C}"/>
                </a:ext>
              </a:extLst>
            </p:cNvPr>
            <p:cNvCxnSpPr>
              <a:cxnSpLocks/>
              <a:endCxn id="27" idx="0"/>
            </p:cNvCxnSpPr>
            <p:nvPr/>
          </p:nvCxnSpPr>
          <p:spPr>
            <a:xfrm flipH="1">
              <a:off x="8780107" y="5290458"/>
              <a:ext cx="12440" cy="6344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5C3C36B-1B38-4DDC-B252-3A010E4EE60D}"/>
                </a:ext>
              </a:extLst>
            </p:cNvPr>
            <p:cNvSpPr/>
            <p:nvPr/>
          </p:nvSpPr>
          <p:spPr>
            <a:xfrm>
              <a:off x="5784980" y="5924938"/>
              <a:ext cx="1866123" cy="93306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data</a:t>
              </a:r>
              <a:r>
                <a:rPr lang="zh-CN" altLang="en-US" dirty="0"/>
                <a:t>、</a:t>
              </a:r>
              <a:r>
                <a:rPr lang="en-US" altLang="zh-CN" dirty="0"/>
                <a:t>prediction</a:t>
              </a:r>
              <a:r>
                <a:rPr lang="zh-CN" altLang="en-US" dirty="0"/>
                <a:t>、</a:t>
              </a:r>
              <a:r>
                <a:rPr lang="en-US" altLang="zh-CN" dirty="0"/>
                <a:t>update</a:t>
              </a:r>
              <a:r>
                <a:rPr lang="zh-CN" altLang="en-US" dirty="0"/>
                <a:t>、</a:t>
              </a:r>
              <a:r>
                <a:rPr lang="en-US" altLang="zh-CN" dirty="0"/>
                <a:t>time</a:t>
              </a:r>
              <a:endParaRPr lang="en-US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EE0834B-D51A-4350-96B1-AF7D0C74D6C1}"/>
                </a:ext>
              </a:extLst>
            </p:cNvPr>
            <p:cNvSpPr/>
            <p:nvPr/>
          </p:nvSpPr>
          <p:spPr>
            <a:xfrm>
              <a:off x="7847045" y="5924938"/>
              <a:ext cx="1866123" cy="93306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data</a:t>
              </a:r>
              <a:r>
                <a:rPr lang="zh-CN" altLang="en-US" dirty="0"/>
                <a:t>、</a:t>
              </a:r>
              <a:r>
                <a:rPr lang="en-US" altLang="zh-CN" dirty="0"/>
                <a:t>prediction</a:t>
              </a:r>
              <a:r>
                <a:rPr lang="zh-CN" altLang="en-US" dirty="0"/>
                <a:t>、</a:t>
              </a:r>
              <a:r>
                <a:rPr lang="en-US" altLang="zh-CN" dirty="0"/>
                <a:t>update</a:t>
              </a:r>
              <a:r>
                <a:rPr lang="zh-CN" altLang="en-US" dirty="0"/>
                <a:t>、</a:t>
              </a:r>
              <a:r>
                <a:rPr lang="en-US" altLang="zh-CN" dirty="0"/>
                <a:t>time</a:t>
              </a:r>
              <a:endParaRPr lang="en-US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7D14A57-BDAC-4EFD-B1B8-865DCB16312A}"/>
                </a:ext>
              </a:extLst>
            </p:cNvPr>
            <p:cNvSpPr/>
            <p:nvPr/>
          </p:nvSpPr>
          <p:spPr>
            <a:xfrm>
              <a:off x="9846905" y="5924938"/>
              <a:ext cx="1866123" cy="93306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data</a:t>
              </a:r>
              <a:r>
                <a:rPr lang="zh-CN" altLang="en-US" dirty="0"/>
                <a:t>、</a:t>
              </a:r>
              <a:r>
                <a:rPr lang="en-US" altLang="zh-CN" dirty="0"/>
                <a:t>prediction</a:t>
              </a:r>
              <a:r>
                <a:rPr lang="zh-CN" altLang="en-US" dirty="0"/>
                <a:t>、</a:t>
              </a:r>
              <a:r>
                <a:rPr lang="en-US" altLang="zh-CN" dirty="0"/>
                <a:t>update</a:t>
              </a:r>
              <a:r>
                <a:rPr lang="zh-CN" altLang="en-US" dirty="0"/>
                <a:t>、</a:t>
              </a:r>
              <a:r>
                <a:rPr lang="en-US" altLang="zh-CN" dirty="0"/>
                <a:t>time</a:t>
              </a:r>
              <a:endParaRPr lang="en-US" dirty="0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2DB3B7FA-87EF-4019-AD74-6D13FCC012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67526" y="5290458"/>
              <a:ext cx="12440" cy="6344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237784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76E8B-95E3-435B-886C-D50F5750B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</a:t>
            </a:r>
            <a:r>
              <a:rPr lang="zh-CN" altLang="en-US" dirty="0"/>
              <a:t>面向对象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06C45-9B07-4980-B157-0A2CB1485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类</a:t>
            </a:r>
            <a:r>
              <a:rPr lang="en-US" altLang="zh-CN" dirty="0"/>
              <a:t>(Class): </a:t>
            </a:r>
            <a:r>
              <a:rPr lang="zh-CN" altLang="en-US" dirty="0"/>
              <a:t>用来描述具有相同的属性和方法的对象的集合。它定义了该集合中每个对象所共有的属性和方法。对象是类的实例。</a:t>
            </a:r>
          </a:p>
          <a:p>
            <a:r>
              <a:rPr lang="zh-CN" altLang="en-US" dirty="0"/>
              <a:t>方法：类中定义的函数。</a:t>
            </a:r>
          </a:p>
          <a:p>
            <a:r>
              <a:rPr lang="zh-CN" altLang="en-US" dirty="0"/>
              <a:t>方法重载</a:t>
            </a:r>
            <a:endParaRPr lang="en-US" altLang="zh-CN" dirty="0"/>
          </a:p>
          <a:p>
            <a:r>
              <a:rPr lang="zh-CN" altLang="en-US" dirty="0"/>
              <a:t>局部变量</a:t>
            </a:r>
            <a:endParaRPr lang="en-US" altLang="zh-CN" dirty="0"/>
          </a:p>
          <a:p>
            <a:r>
              <a:rPr lang="zh-CN" altLang="en-US" dirty="0"/>
              <a:t>继承</a:t>
            </a:r>
            <a:endParaRPr lang="en-US" altLang="zh-CN" dirty="0"/>
          </a:p>
          <a:p>
            <a:r>
              <a:rPr lang="zh-CN" altLang="en-US" dirty="0"/>
              <a:t>实例化：创建一个类的实例，类的具体对象。</a:t>
            </a:r>
          </a:p>
        </p:txBody>
      </p:sp>
    </p:spTree>
    <p:extLst>
      <p:ext uri="{BB962C8B-B14F-4D97-AF65-F5344CB8AC3E}">
        <p14:creationId xmlns:p14="http://schemas.microsoft.com/office/powerpoint/2010/main" val="41498808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161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161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161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161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161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161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161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161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1590</TotalTime>
  <Words>1313</Words>
  <Application>Microsoft Office PowerPoint</Application>
  <PresentationFormat>Widescreen</PresentationFormat>
  <Paragraphs>199</Paragraphs>
  <Slides>33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-apple-system</vt:lpstr>
      <vt:lpstr>宋体</vt:lpstr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Equation</vt:lpstr>
      <vt:lpstr>Kalman Filter</vt:lpstr>
      <vt:lpstr>Kalman Filter</vt:lpstr>
      <vt:lpstr>滤波的应用举例</vt:lpstr>
      <vt:lpstr>Kalman Filter</vt:lpstr>
      <vt:lpstr>PowerPoint Presentation</vt:lpstr>
      <vt:lpstr>State Space Model</vt:lpstr>
      <vt:lpstr>向量和矩阵定义</vt:lpstr>
      <vt:lpstr>方差-协方差矩阵variance-covariance matrix</vt:lpstr>
      <vt:lpstr>PowerPoint Presentation</vt:lpstr>
      <vt:lpstr>PowerPoint Presentation</vt:lpstr>
      <vt:lpstr>正定矩阵和半正定（非负定）矩阵</vt:lpstr>
      <vt:lpstr>协差阵的性质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OLS</vt:lpstr>
      <vt:lpstr>MLE = Maximum Likelihood Estimation</vt:lpstr>
      <vt:lpstr>Basic Time Series</vt:lpstr>
      <vt:lpstr> 变量 </vt:lpstr>
      <vt:lpstr>数学运算、运算符</vt:lpstr>
      <vt:lpstr>运算符优先级顺序</vt:lpstr>
      <vt:lpstr>PowerPoint Presentation</vt:lpstr>
      <vt:lpstr>字符串其他方法</vt:lpstr>
      <vt:lpstr>PowerPoint Presentation</vt:lpstr>
      <vt:lpstr>常见数据结构 </vt:lpstr>
      <vt:lpstr>循环结构——for，while循环</vt:lpstr>
      <vt:lpstr>循环控制 </vt:lpstr>
      <vt:lpstr>UML</vt:lpstr>
      <vt:lpstr>PowerPoint Presentation</vt:lpstr>
      <vt:lpstr>Python面向对象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Kalman Filter</dc:title>
  <dc:creator>Xiaohan Cheng</dc:creator>
  <cp:lastModifiedBy>Xiaohan Cheng</cp:lastModifiedBy>
  <cp:revision>35</cp:revision>
  <dcterms:created xsi:type="dcterms:W3CDTF">2021-02-23T01:02:19Z</dcterms:created>
  <dcterms:modified xsi:type="dcterms:W3CDTF">2021-02-27T14:40:36Z</dcterms:modified>
</cp:coreProperties>
</file>